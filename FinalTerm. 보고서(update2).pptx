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media/image26.jpg" ContentType="image/jpeg"/>
  <Override PartName="/ppt/media/image27.jpg" ContentType="image/jpeg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331" r:id="rId3"/>
    <p:sldId id="334" r:id="rId4"/>
    <p:sldId id="332" r:id="rId5"/>
    <p:sldId id="261" r:id="rId6"/>
    <p:sldId id="335" r:id="rId7"/>
    <p:sldId id="336" r:id="rId8"/>
    <p:sldId id="344" r:id="rId9"/>
    <p:sldId id="349" r:id="rId10"/>
    <p:sldId id="346" r:id="rId11"/>
    <p:sldId id="347" r:id="rId12"/>
    <p:sldId id="348" r:id="rId13"/>
    <p:sldId id="343" r:id="rId14"/>
    <p:sldId id="337" r:id="rId15"/>
    <p:sldId id="340" r:id="rId16"/>
    <p:sldId id="338" r:id="rId17"/>
    <p:sldId id="341" r:id="rId18"/>
  </p:sldIdLst>
  <p:sldSz cx="9906000" cy="6858000" type="A4"/>
  <p:notesSz cx="9906000" cy="6858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720" userDrawn="1">
          <p15:clr>
            <a:srgbClr val="A4A3A4"/>
          </p15:clr>
        </p15:guide>
        <p15:guide id="2" pos="288" userDrawn="1">
          <p15:clr>
            <a:srgbClr val="A4A3A4"/>
          </p15:clr>
        </p15:guide>
        <p15:guide id="3" orient="horz" pos="254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806"/>
    <p:restoredTop sz="94658"/>
  </p:normalViewPr>
  <p:slideViewPr>
    <p:cSldViewPr>
      <p:cViewPr varScale="1">
        <p:scale>
          <a:sx n="59" d="100"/>
          <a:sy n="59" d="100"/>
        </p:scale>
        <p:origin x="1660" y="52"/>
      </p:cViewPr>
      <p:guideLst>
        <p:guide orient="horz" pos="720"/>
        <p:guide pos="288"/>
        <p:guide orient="horz" pos="2544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742950" y="2125980"/>
            <a:ext cx="84201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485900" y="3840480"/>
            <a:ext cx="69342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400" b="1" i="0">
                <a:solidFill>
                  <a:schemeClr val="tx2"/>
                </a:solidFill>
                <a:latin typeface="Times New Roman"/>
                <a:cs typeface="Times New Roman"/>
              </a:defRPr>
            </a:lvl1pPr>
          </a:lstStyle>
          <a:p>
            <a:pPr marL="12700">
              <a:lnSpc>
                <a:spcPts val="1630"/>
              </a:lnSpc>
            </a:pPr>
            <a:r>
              <a:rPr dirty="0"/>
              <a:t>Image </a:t>
            </a:r>
            <a:r>
              <a:rPr spc="-5" dirty="0"/>
              <a:t>Processing</a:t>
            </a:r>
            <a:r>
              <a:rPr spc="-70" dirty="0"/>
              <a:t> </a:t>
            </a:r>
            <a:r>
              <a:rPr dirty="0"/>
              <a:t>Lab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12/20/2025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8A8A8A"/>
                </a:solidFill>
                <a:latin typeface="Malgun Gothic"/>
                <a:cs typeface="Malgun Gothic"/>
              </a:defRPr>
            </a:lvl1pPr>
          </a:lstStyle>
          <a:p>
            <a:pPr marL="121285">
              <a:lnSpc>
                <a:spcPct val="100000"/>
              </a:lnSpc>
              <a:spcBef>
                <a:spcPts val="204"/>
              </a:spcBef>
            </a:pPr>
            <a:fld id="{81D60167-4931-47E6-BA6A-407CBD079E47}" type="slidenum">
              <a:rPr dirty="0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000" b="0" i="0">
                <a:solidFill>
                  <a:srgbClr val="00206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050" b="0" i="0">
                <a:solidFill>
                  <a:schemeClr val="bg1"/>
                </a:solidFill>
                <a:latin typeface="Consolas"/>
                <a:cs typeface="Consola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400" b="1" i="0">
                <a:solidFill>
                  <a:schemeClr val="tx2"/>
                </a:solidFill>
                <a:latin typeface="Times New Roman"/>
                <a:cs typeface="Times New Roman"/>
              </a:defRPr>
            </a:lvl1pPr>
          </a:lstStyle>
          <a:p>
            <a:pPr marL="12700">
              <a:lnSpc>
                <a:spcPts val="1630"/>
              </a:lnSpc>
            </a:pPr>
            <a:r>
              <a:rPr dirty="0"/>
              <a:t>Image </a:t>
            </a:r>
            <a:r>
              <a:rPr spc="-5" dirty="0"/>
              <a:t>Processing</a:t>
            </a:r>
            <a:r>
              <a:rPr spc="-70" dirty="0"/>
              <a:t> </a:t>
            </a:r>
            <a:r>
              <a:rPr dirty="0"/>
              <a:t>Lab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12/20/2025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8A8A8A"/>
                </a:solidFill>
                <a:latin typeface="Malgun Gothic"/>
                <a:cs typeface="Malgun Gothic"/>
              </a:defRPr>
            </a:lvl1pPr>
          </a:lstStyle>
          <a:p>
            <a:pPr marL="121285">
              <a:lnSpc>
                <a:spcPct val="100000"/>
              </a:lnSpc>
              <a:spcBef>
                <a:spcPts val="204"/>
              </a:spcBef>
            </a:pPr>
            <a:fld id="{81D60167-4931-47E6-BA6A-407CBD079E47}" type="slidenum">
              <a:rPr dirty="0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000" b="0" i="0">
                <a:solidFill>
                  <a:srgbClr val="00206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95300" y="1577340"/>
            <a:ext cx="430911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5101590" y="1577340"/>
            <a:ext cx="430911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400" b="1" i="0">
                <a:solidFill>
                  <a:schemeClr val="tx2"/>
                </a:solidFill>
                <a:latin typeface="Times New Roman"/>
                <a:cs typeface="Times New Roman"/>
              </a:defRPr>
            </a:lvl1pPr>
          </a:lstStyle>
          <a:p>
            <a:pPr marL="12700">
              <a:lnSpc>
                <a:spcPts val="1630"/>
              </a:lnSpc>
            </a:pPr>
            <a:r>
              <a:rPr dirty="0"/>
              <a:t>Image </a:t>
            </a:r>
            <a:r>
              <a:rPr spc="-5" dirty="0"/>
              <a:t>Processing</a:t>
            </a:r>
            <a:r>
              <a:rPr spc="-70" dirty="0"/>
              <a:t> </a:t>
            </a:r>
            <a:r>
              <a:rPr dirty="0"/>
              <a:t>Lab</a:t>
            </a: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12/20/2025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8A8A8A"/>
                </a:solidFill>
                <a:latin typeface="Malgun Gothic"/>
                <a:cs typeface="Malgun Gothic"/>
              </a:defRPr>
            </a:lvl1pPr>
          </a:lstStyle>
          <a:p>
            <a:pPr marL="121285">
              <a:lnSpc>
                <a:spcPct val="100000"/>
              </a:lnSpc>
              <a:spcBef>
                <a:spcPts val="204"/>
              </a:spcBef>
            </a:pPr>
            <a:fld id="{81D60167-4931-47E6-BA6A-407CBD079E47}" type="slidenum">
              <a:rPr dirty="0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000" b="0" i="0">
                <a:solidFill>
                  <a:srgbClr val="00206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400" b="1" i="0">
                <a:solidFill>
                  <a:schemeClr val="tx2"/>
                </a:solidFill>
                <a:latin typeface="Times New Roman"/>
                <a:cs typeface="Times New Roman"/>
              </a:defRPr>
            </a:lvl1pPr>
          </a:lstStyle>
          <a:p>
            <a:pPr marL="12700">
              <a:lnSpc>
                <a:spcPts val="1630"/>
              </a:lnSpc>
            </a:pPr>
            <a:r>
              <a:rPr dirty="0"/>
              <a:t>Image </a:t>
            </a:r>
            <a:r>
              <a:rPr spc="-5" dirty="0"/>
              <a:t>Processing</a:t>
            </a:r>
            <a:r>
              <a:rPr spc="-70" dirty="0"/>
              <a:t> </a:t>
            </a:r>
            <a:r>
              <a:rPr dirty="0"/>
              <a:t>Lab</a:t>
            </a: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12/20/2025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8A8A8A"/>
                </a:solidFill>
                <a:latin typeface="Malgun Gothic"/>
                <a:cs typeface="Malgun Gothic"/>
              </a:defRPr>
            </a:lvl1pPr>
          </a:lstStyle>
          <a:p>
            <a:pPr marL="121285">
              <a:lnSpc>
                <a:spcPct val="100000"/>
              </a:lnSpc>
              <a:spcBef>
                <a:spcPts val="204"/>
              </a:spcBef>
            </a:pPr>
            <a:fld id="{81D60167-4931-47E6-BA6A-407CBD079E47}" type="slidenum">
              <a:rPr dirty="0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400" b="1" i="0">
                <a:solidFill>
                  <a:schemeClr val="tx2"/>
                </a:solidFill>
                <a:latin typeface="Times New Roman"/>
                <a:cs typeface="Times New Roman"/>
              </a:defRPr>
            </a:lvl1pPr>
          </a:lstStyle>
          <a:p>
            <a:pPr marL="12700">
              <a:lnSpc>
                <a:spcPts val="1630"/>
              </a:lnSpc>
            </a:pPr>
            <a:r>
              <a:rPr dirty="0"/>
              <a:t>Image </a:t>
            </a:r>
            <a:r>
              <a:rPr spc="-5" dirty="0"/>
              <a:t>Processing</a:t>
            </a:r>
            <a:r>
              <a:rPr spc="-70" dirty="0"/>
              <a:t> </a:t>
            </a:r>
            <a:r>
              <a:rPr dirty="0"/>
              <a:t>Lab</a:t>
            </a: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12/20/2025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8A8A8A"/>
                </a:solidFill>
                <a:latin typeface="Malgun Gothic"/>
                <a:cs typeface="Malgun Gothic"/>
              </a:defRPr>
            </a:lvl1pPr>
          </a:lstStyle>
          <a:p>
            <a:pPr marL="121285">
              <a:lnSpc>
                <a:spcPct val="100000"/>
              </a:lnSpc>
              <a:spcBef>
                <a:spcPts val="204"/>
              </a:spcBef>
            </a:pPr>
            <a:fld id="{81D60167-4931-47E6-BA6A-407CBD079E47}" type="slidenum">
              <a:rPr dirty="0"/>
              <a:t>‹#›</a:t>
            </a:fld>
            <a:endParaRPr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jpg"/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9905998" cy="6858000"/>
          </a:xfrm>
          <a:prstGeom prst="rect">
            <a:avLst/>
          </a:prstGeom>
          <a:blipFill>
            <a:blip r:embed="rId7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495300" y="6461759"/>
            <a:ext cx="641603" cy="248411"/>
          </a:xfrm>
          <a:prstGeom prst="rect">
            <a:avLst/>
          </a:prstGeom>
          <a:blipFill>
            <a:blip r:embed="rId8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74040" y="609888"/>
            <a:ext cx="8757919" cy="33083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000" b="0" i="0">
                <a:solidFill>
                  <a:srgbClr val="00206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182478" y="2640851"/>
            <a:ext cx="9285605" cy="14668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050" b="0" i="0">
                <a:solidFill>
                  <a:schemeClr val="bg1"/>
                </a:solidFill>
                <a:latin typeface="Consolas"/>
                <a:cs typeface="Consola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1208504" y="6506291"/>
            <a:ext cx="1705610" cy="22288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400" b="1" i="0">
                <a:solidFill>
                  <a:schemeClr val="tx2"/>
                </a:solidFill>
                <a:latin typeface="Times New Roman"/>
                <a:cs typeface="Times New Roman"/>
              </a:defRPr>
            </a:lvl1pPr>
          </a:lstStyle>
          <a:p>
            <a:pPr marL="12700">
              <a:lnSpc>
                <a:spcPts val="1630"/>
              </a:lnSpc>
            </a:pPr>
            <a:r>
              <a:rPr dirty="0"/>
              <a:t>Image </a:t>
            </a:r>
            <a:r>
              <a:rPr spc="-5" dirty="0"/>
              <a:t>Processing</a:t>
            </a:r>
            <a:r>
              <a:rPr spc="-70" dirty="0"/>
              <a:t> </a:t>
            </a:r>
            <a:r>
              <a:rPr dirty="0"/>
              <a:t>Lab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95300" y="6377940"/>
            <a:ext cx="227838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12/20/2025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9112504" y="6418258"/>
            <a:ext cx="244475" cy="2286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200" b="0" i="0">
                <a:solidFill>
                  <a:srgbClr val="8A8A8A"/>
                </a:solidFill>
                <a:latin typeface="Malgun Gothic"/>
                <a:cs typeface="Malgun Gothic"/>
              </a:defRPr>
            </a:lvl1pPr>
          </a:lstStyle>
          <a:p>
            <a:pPr marL="121285">
              <a:lnSpc>
                <a:spcPct val="100000"/>
              </a:lnSpc>
              <a:spcBef>
                <a:spcPts val="204"/>
              </a:spcBef>
            </a:pPr>
            <a:fld id="{81D60167-4931-47E6-BA6A-407CBD079E47}" type="slidenum">
              <a:rPr dirty="0"/>
              <a:t>‹#›</a:t>
            </a:fld>
            <a:endParaRPr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17.png"/><Relationship Id="rId18" Type="http://schemas.openxmlformats.org/officeDocument/2006/relationships/image" Target="../media/image21.png"/><Relationship Id="rId3" Type="http://schemas.openxmlformats.org/officeDocument/2006/relationships/image" Target="../media/image7.png"/><Relationship Id="rId21" Type="http://schemas.openxmlformats.org/officeDocument/2006/relationships/image" Target="../media/image24.png"/><Relationship Id="rId7" Type="http://schemas.openxmlformats.org/officeDocument/2006/relationships/image" Target="../media/image11.png"/><Relationship Id="rId12" Type="http://schemas.openxmlformats.org/officeDocument/2006/relationships/image" Target="../media/image16.png"/><Relationship Id="rId17" Type="http://schemas.openxmlformats.org/officeDocument/2006/relationships/hyperlink" Target="https://openclipart.org/detail/212967/orange-rounded-button-by-matheszabi-212967" TargetMode="External"/><Relationship Id="rId2" Type="http://schemas.openxmlformats.org/officeDocument/2006/relationships/image" Target="../media/image6.png"/><Relationship Id="rId16" Type="http://schemas.openxmlformats.org/officeDocument/2006/relationships/image" Target="../media/image20.png"/><Relationship Id="rId20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11" Type="http://schemas.openxmlformats.org/officeDocument/2006/relationships/image" Target="../media/image15.png"/><Relationship Id="rId5" Type="http://schemas.openxmlformats.org/officeDocument/2006/relationships/image" Target="../media/image9.png"/><Relationship Id="rId15" Type="http://schemas.openxmlformats.org/officeDocument/2006/relationships/image" Target="../media/image19.png"/><Relationship Id="rId10" Type="http://schemas.openxmlformats.org/officeDocument/2006/relationships/image" Target="../media/image14.png"/><Relationship Id="rId19" Type="http://schemas.openxmlformats.org/officeDocument/2006/relationships/image" Target="../media/image22.png"/><Relationship Id="rId4" Type="http://schemas.openxmlformats.org/officeDocument/2006/relationships/image" Target="../media/image8.png"/><Relationship Id="rId9" Type="http://schemas.openxmlformats.org/officeDocument/2006/relationships/image" Target="../media/image13.png"/><Relationship Id="rId14" Type="http://schemas.openxmlformats.org/officeDocument/2006/relationships/image" Target="../media/image18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7.jp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6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9905998" cy="6478073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1218275" y="2171297"/>
            <a:ext cx="8229112" cy="11208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3600" spc="-5" dirty="0" err="1">
                <a:solidFill>
                  <a:srgbClr val="FFFFFF"/>
                </a:solidFill>
                <a:latin typeface="Times New Roman"/>
                <a:cs typeface="Times New Roman"/>
              </a:rPr>
              <a:t>FinalTerm</a:t>
            </a:r>
            <a:r>
              <a:rPr lang="ko-KR" altLang="en-US" sz="3600" spc="-5" dirty="0">
                <a:solidFill>
                  <a:srgbClr val="FFFFFF"/>
                </a:solidFill>
                <a:latin typeface="Times New Roman"/>
                <a:cs typeface="Times New Roman"/>
              </a:rPr>
              <a:t> 보고서</a:t>
            </a:r>
            <a:endParaRPr sz="3600" dirty="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35"/>
              </a:spcBef>
            </a:pPr>
            <a:r>
              <a:rPr lang="ko-KR" altLang="en-US" sz="3600" spc="-5" dirty="0">
                <a:solidFill>
                  <a:srgbClr val="FFFFFF"/>
                </a:solidFill>
                <a:latin typeface="Times New Roman"/>
                <a:cs typeface="Times New Roman"/>
              </a:rPr>
              <a:t>제목 </a:t>
            </a:r>
            <a:r>
              <a:rPr lang="en-US" altLang="ko-KR" sz="3600" spc="-5" dirty="0">
                <a:solidFill>
                  <a:srgbClr val="FFFFFF"/>
                </a:solidFill>
                <a:latin typeface="Times New Roman"/>
                <a:cs typeface="Times New Roman"/>
              </a:rPr>
              <a:t>:</a:t>
            </a:r>
            <a:r>
              <a:rPr lang="ko-KR" altLang="en-US" sz="3600" spc="-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lang="en-US" altLang="ko-KR" sz="3600" spc="-5" dirty="0" err="1">
                <a:solidFill>
                  <a:schemeClr val="bg1"/>
                </a:solidFill>
                <a:latin typeface="Times New Roman"/>
                <a:cs typeface="Times New Roman"/>
              </a:rPr>
              <a:t>FrontDoor</a:t>
            </a:r>
            <a:r>
              <a:rPr lang="en-US" altLang="ko-KR" sz="3600" spc="-5" dirty="0">
                <a:solidFill>
                  <a:schemeClr val="bg1"/>
                </a:solidFill>
                <a:latin typeface="Times New Roman"/>
                <a:cs typeface="Times New Roman"/>
              </a:rPr>
              <a:t> Detection</a:t>
            </a:r>
            <a:endParaRPr sz="3600" spc="-5" dirty="0">
              <a:solidFill>
                <a:schemeClr val="bg1"/>
              </a:solidFill>
              <a:latin typeface="Times New Roman"/>
              <a:cs typeface="Times New Roman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6324600" y="3911489"/>
            <a:ext cx="3429000" cy="76431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ko-KR" altLang="en-US" sz="2400" spc="-5" dirty="0">
                <a:solidFill>
                  <a:srgbClr val="FFFFFF"/>
                </a:solidFill>
                <a:latin typeface="Times New Roman"/>
                <a:cs typeface="Times New Roman"/>
              </a:rPr>
              <a:t>학번</a:t>
            </a:r>
            <a:r>
              <a:rPr lang="en-US" altLang="ko-KR" sz="2400" spc="-5" dirty="0">
                <a:solidFill>
                  <a:srgbClr val="FFFFFF"/>
                </a:solidFill>
                <a:latin typeface="Times New Roman"/>
                <a:cs typeface="Times New Roman"/>
              </a:rPr>
              <a:t>:</a:t>
            </a:r>
            <a:r>
              <a:rPr lang="ko-KR" altLang="en-US" sz="2400" spc="-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lang="en-US" altLang="ko-KR" sz="2400" spc="-5" dirty="0">
                <a:solidFill>
                  <a:schemeClr val="bg1"/>
                </a:solidFill>
                <a:latin typeface="Times New Roman"/>
                <a:cs typeface="Times New Roman"/>
              </a:rPr>
              <a:t>2022100298</a:t>
            </a:r>
          </a:p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ko-KR" altLang="en-US" sz="2400" spc="-5" dirty="0">
                <a:solidFill>
                  <a:schemeClr val="bg1"/>
                </a:solidFill>
                <a:latin typeface="Times New Roman"/>
                <a:cs typeface="Times New Roman"/>
              </a:rPr>
              <a:t>이름 </a:t>
            </a:r>
            <a:r>
              <a:rPr lang="en-US" altLang="ko-KR" sz="2400" spc="-5" dirty="0">
                <a:solidFill>
                  <a:schemeClr val="bg1"/>
                </a:solidFill>
                <a:latin typeface="Times New Roman"/>
                <a:cs typeface="Times New Roman"/>
              </a:rPr>
              <a:t>:</a:t>
            </a:r>
            <a:r>
              <a:rPr lang="ko-KR" altLang="en-US" sz="2400" spc="-5" dirty="0">
                <a:solidFill>
                  <a:schemeClr val="bg1"/>
                </a:solidFill>
                <a:latin typeface="Times New Roman"/>
                <a:cs typeface="Times New Roman"/>
              </a:rPr>
              <a:t> </a:t>
            </a:r>
            <a:r>
              <a:rPr lang="en-US" altLang="ko-KR" sz="2400" spc="-5" dirty="0">
                <a:solidFill>
                  <a:schemeClr val="bg1"/>
                </a:solidFill>
                <a:latin typeface="Times New Roman"/>
                <a:cs typeface="Times New Roman"/>
              </a:rPr>
              <a:t>UMAIRA YUSRA</a:t>
            </a:r>
            <a:endParaRPr sz="2400" dirty="0">
              <a:solidFill>
                <a:schemeClr val="bg1"/>
              </a:solidFill>
              <a:latin typeface="Times New Roman"/>
              <a:cs typeface="Times New Roman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3119628" y="5259323"/>
            <a:ext cx="1036319" cy="402335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4254215" y="5285013"/>
            <a:ext cx="241871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1F497D"/>
                </a:solidFill>
                <a:latin typeface="Times New Roman"/>
                <a:cs typeface="Times New Roman"/>
              </a:rPr>
              <a:t>Image </a:t>
            </a:r>
            <a:r>
              <a:rPr sz="2000" b="1" spc="-5" dirty="0">
                <a:solidFill>
                  <a:srgbClr val="1F497D"/>
                </a:solidFill>
                <a:latin typeface="Times New Roman"/>
                <a:cs typeface="Times New Roman"/>
              </a:rPr>
              <a:t>Processing</a:t>
            </a:r>
            <a:r>
              <a:rPr sz="2000" b="1" spc="-120" dirty="0">
                <a:solidFill>
                  <a:srgbClr val="1F497D"/>
                </a:solidFill>
                <a:latin typeface="Times New Roman"/>
                <a:cs typeface="Times New Roman"/>
              </a:rPr>
              <a:t> </a:t>
            </a:r>
            <a:r>
              <a:rPr sz="2000" b="1" dirty="0">
                <a:solidFill>
                  <a:srgbClr val="1F497D"/>
                </a:solidFill>
                <a:latin typeface="Times New Roman"/>
                <a:cs typeface="Times New Roman"/>
              </a:rPr>
              <a:t>Lab</a:t>
            </a:r>
            <a:endParaRPr sz="2000">
              <a:latin typeface="Times New Roman"/>
              <a:cs typeface="Times New Roman"/>
            </a:endParaRPr>
          </a:p>
        </p:txBody>
      </p:sp>
      <p:sp>
        <p:nvSpPr>
          <p:cNvPr id="7" name="object 7"/>
          <p:cNvSpPr txBox="1">
            <a:spLocks noGrp="1"/>
          </p:cNvSpPr>
          <p:nvPr>
            <p:ph type="title"/>
          </p:nvPr>
        </p:nvSpPr>
        <p:spPr>
          <a:xfrm>
            <a:off x="454138" y="630845"/>
            <a:ext cx="5108462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buNone/>
            </a:pPr>
            <a:r>
              <a:rPr lang="en-US" altLang="ko-KR" sz="2400" dirty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Mobile/</a:t>
            </a:r>
            <a:r>
              <a:rPr lang="en-US" altLang="ko-KR" sz="2400" dirty="0" err="1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WebService</a:t>
            </a:r>
            <a:r>
              <a:rPr lang="en-US" altLang="ko-KR" sz="240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 Project</a:t>
            </a:r>
            <a:endParaRPr lang="en-US" altLang="ko-KR" sz="2400" dirty="0">
              <a:solidFill>
                <a:schemeClr val="bg1"/>
              </a:solidFill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9905998" cy="6858000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9221723" y="6431727"/>
            <a:ext cx="10985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dirty="0">
                <a:solidFill>
                  <a:srgbClr val="8A8A8A"/>
                </a:solidFill>
                <a:latin typeface="Malgun Gothic"/>
                <a:cs typeface="Malgun Gothic"/>
              </a:rPr>
              <a:t>2</a:t>
            </a:r>
            <a:endParaRPr sz="1200">
              <a:latin typeface="Malgun Gothic"/>
              <a:cs typeface="Malgun Gothic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1399538" y="2991103"/>
            <a:ext cx="5687062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ko-KR" altLang="en-US" sz="3600" dirty="0"/>
              <a:t>목차</a:t>
            </a:r>
            <a:endParaRPr sz="3600" dirty="0"/>
          </a:p>
        </p:txBody>
      </p:sp>
      <p:sp>
        <p:nvSpPr>
          <p:cNvPr id="5" name="object 5"/>
          <p:cNvSpPr txBox="1"/>
          <p:nvPr/>
        </p:nvSpPr>
        <p:spPr>
          <a:xfrm>
            <a:off x="1482089" y="4019482"/>
            <a:ext cx="6366511" cy="2305118"/>
          </a:xfrm>
          <a:prstGeom prst="rect">
            <a:avLst/>
          </a:prstGeom>
        </p:spPr>
        <p:txBody>
          <a:bodyPr vert="horz" wrap="square" lIns="0" tIns="73025" rIns="0" bIns="0" rtlCol="0">
            <a:spAutoFit/>
          </a:bodyPr>
          <a:lstStyle/>
          <a:p>
            <a:pPr marL="355600" indent="-343535">
              <a:lnSpc>
                <a:spcPct val="100000"/>
              </a:lnSpc>
              <a:spcBef>
                <a:spcPts val="575"/>
              </a:spcBef>
              <a:buFont typeface="Arial"/>
              <a:buChar char="•"/>
              <a:tabLst>
                <a:tab pos="355600" algn="l"/>
                <a:tab pos="356235" algn="l"/>
              </a:tabLst>
            </a:pPr>
            <a:r>
              <a:rPr lang="ko-KR" altLang="en-US" sz="2000" dirty="0"/>
              <a:t>요구조건</a:t>
            </a:r>
            <a:endParaRPr lang="en-US" altLang="ko-KR" sz="2000" dirty="0"/>
          </a:p>
          <a:p>
            <a:pPr marL="355600" indent="-343535">
              <a:lnSpc>
                <a:spcPct val="100000"/>
              </a:lnSpc>
              <a:spcBef>
                <a:spcPts val="575"/>
              </a:spcBef>
              <a:buFont typeface="Arial"/>
              <a:buChar char="•"/>
              <a:tabLst>
                <a:tab pos="355600" algn="l"/>
                <a:tab pos="356235" algn="l"/>
              </a:tabLst>
            </a:pPr>
            <a:r>
              <a:rPr lang="ko-KR" altLang="en-US" sz="2000" dirty="0"/>
              <a:t>목적</a:t>
            </a:r>
            <a:endParaRPr lang="en-US" altLang="ko-KR" sz="2000" dirty="0"/>
          </a:p>
          <a:p>
            <a:pPr marL="355600" indent="-343535">
              <a:lnSpc>
                <a:spcPct val="100000"/>
              </a:lnSpc>
              <a:spcBef>
                <a:spcPts val="575"/>
              </a:spcBef>
              <a:buFont typeface="Arial"/>
              <a:buChar char="•"/>
              <a:tabLst>
                <a:tab pos="355600" algn="l"/>
                <a:tab pos="356235" algn="l"/>
              </a:tabLst>
            </a:pPr>
            <a:r>
              <a:rPr lang="ko-KR" altLang="en-US" sz="2000" dirty="0"/>
              <a:t>필요성</a:t>
            </a:r>
            <a:endParaRPr lang="en-US" altLang="ko-KR" sz="2000" dirty="0"/>
          </a:p>
          <a:p>
            <a:pPr marL="355600" indent="-343535">
              <a:lnSpc>
                <a:spcPct val="100000"/>
              </a:lnSpc>
              <a:spcBef>
                <a:spcPts val="575"/>
              </a:spcBef>
              <a:buFont typeface="Arial"/>
              <a:buChar char="•"/>
              <a:tabLst>
                <a:tab pos="355600" algn="l"/>
                <a:tab pos="356235" algn="l"/>
              </a:tabLst>
            </a:pPr>
            <a:r>
              <a:rPr lang="ko-KR" altLang="en-US" sz="2000" dirty="0"/>
              <a:t>기능 계획</a:t>
            </a:r>
            <a:r>
              <a:rPr lang="en-US" altLang="ko-KR" sz="2000" dirty="0"/>
              <a:t>(</a:t>
            </a:r>
            <a:r>
              <a:rPr lang="ko-KR" altLang="en-US" sz="2000" dirty="0"/>
              <a:t>신규 또는 추가 기능 중심</a:t>
            </a:r>
            <a:r>
              <a:rPr lang="en-US" altLang="ko-KR" sz="2000" dirty="0"/>
              <a:t>)</a:t>
            </a:r>
          </a:p>
          <a:p>
            <a:pPr marL="355600" indent="-343535">
              <a:lnSpc>
                <a:spcPct val="100000"/>
              </a:lnSpc>
              <a:spcBef>
                <a:spcPts val="575"/>
              </a:spcBef>
              <a:buFont typeface="Arial"/>
              <a:buChar char="•"/>
              <a:tabLst>
                <a:tab pos="355600" algn="l"/>
                <a:tab pos="356235" algn="l"/>
              </a:tabLst>
            </a:pPr>
            <a:r>
              <a:rPr lang="ko-KR" altLang="en-US" sz="2000" dirty="0"/>
              <a:t>사용자 시나리오</a:t>
            </a:r>
            <a:r>
              <a:rPr lang="en-US" altLang="ko-KR" sz="2000" dirty="0"/>
              <a:t>(Ui </a:t>
            </a:r>
            <a:r>
              <a:rPr lang="ko-KR" altLang="en-US" sz="2000" dirty="0"/>
              <a:t>구성</a:t>
            </a:r>
            <a:r>
              <a:rPr lang="en-US" altLang="ko-KR" sz="2000" dirty="0"/>
              <a:t>)</a:t>
            </a:r>
          </a:p>
          <a:p>
            <a:pPr marL="355600" indent="-343535">
              <a:lnSpc>
                <a:spcPct val="100000"/>
              </a:lnSpc>
              <a:spcBef>
                <a:spcPts val="575"/>
              </a:spcBef>
              <a:buFont typeface="Arial"/>
              <a:buChar char="•"/>
              <a:tabLst>
                <a:tab pos="355600" algn="l"/>
                <a:tab pos="356235" algn="l"/>
              </a:tabLst>
            </a:pPr>
            <a:r>
              <a:rPr lang="ko-KR" altLang="en-US" sz="2000" dirty="0">
                <a:solidFill>
                  <a:srgbClr val="1F497D"/>
                </a:solidFill>
                <a:latin typeface="Malgun Gothic"/>
                <a:cs typeface="Malgun Gothic"/>
              </a:rPr>
              <a:t>기대효과</a:t>
            </a:r>
            <a:endParaRPr lang="en-US" altLang="ko-KR" sz="2000" dirty="0">
              <a:solidFill>
                <a:srgbClr val="1F497D"/>
              </a:solidFill>
              <a:latin typeface="Malgun Gothic"/>
              <a:cs typeface="Malgun Gothic"/>
            </a:endParaRPr>
          </a:p>
        </p:txBody>
      </p:sp>
    </p:spTree>
    <p:extLst>
      <p:ext uri="{BB962C8B-B14F-4D97-AF65-F5344CB8AC3E}">
        <p14:creationId xmlns:p14="http://schemas.microsoft.com/office/powerpoint/2010/main" val="606940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208504" y="6486875"/>
            <a:ext cx="1705610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b="1" dirty="0">
                <a:solidFill>
                  <a:srgbClr val="1F497D"/>
                </a:solidFill>
                <a:latin typeface="Times New Roman"/>
                <a:cs typeface="Times New Roman"/>
              </a:rPr>
              <a:t>Image </a:t>
            </a:r>
            <a:r>
              <a:rPr sz="1400" b="1" spc="-5" dirty="0">
                <a:solidFill>
                  <a:srgbClr val="1F497D"/>
                </a:solidFill>
                <a:latin typeface="Times New Roman"/>
                <a:cs typeface="Times New Roman"/>
              </a:rPr>
              <a:t>Processing</a:t>
            </a:r>
            <a:r>
              <a:rPr sz="1400" b="1" spc="-70" dirty="0">
                <a:solidFill>
                  <a:srgbClr val="1F497D"/>
                </a:solidFill>
                <a:latin typeface="Times New Roman"/>
                <a:cs typeface="Times New Roman"/>
              </a:rPr>
              <a:t> </a:t>
            </a:r>
            <a:r>
              <a:rPr sz="1400" b="1" dirty="0">
                <a:solidFill>
                  <a:srgbClr val="1F497D"/>
                </a:solidFill>
                <a:latin typeface="Times New Roman"/>
                <a:cs typeface="Times New Roman"/>
              </a:rPr>
              <a:t>Lab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574040" y="609888"/>
            <a:ext cx="3388360" cy="3308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ko-KR" altLang="en-US" dirty="0">
                <a:latin typeface="Times New Roman"/>
                <a:cs typeface="Times New Roman"/>
              </a:rPr>
              <a:t>요구조건</a:t>
            </a:r>
            <a:endParaRPr dirty="0"/>
          </a:p>
        </p:txBody>
      </p:sp>
      <p:sp>
        <p:nvSpPr>
          <p:cNvPr id="4" name="object 4"/>
          <p:cNvSpPr txBox="1"/>
          <p:nvPr/>
        </p:nvSpPr>
        <p:spPr>
          <a:xfrm>
            <a:off x="574040" y="1124817"/>
            <a:ext cx="8874760" cy="495327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99085" indent="-287020">
              <a:spcBef>
                <a:spcPts val="105"/>
              </a:spcBef>
              <a:buFont typeface="Wingdings"/>
              <a:buChar char=""/>
              <a:tabLst>
                <a:tab pos="299720" algn="l"/>
              </a:tabLst>
            </a:pPr>
            <a:r>
              <a:rPr lang="en-US" altLang="ko-KR" sz="1600" spc="-5" dirty="0">
                <a:solidFill>
                  <a:srgbClr val="558ED5"/>
                </a:solidFill>
                <a:latin typeface="+mn-ea"/>
                <a:cs typeface="Malgun Gothic"/>
              </a:rPr>
              <a:t>1.</a:t>
            </a:r>
            <a:r>
              <a:rPr lang="ko-KR" altLang="en-US" sz="1600" spc="-5" dirty="0">
                <a:solidFill>
                  <a:srgbClr val="558ED5"/>
                </a:solidFill>
                <a:latin typeface="+mn-ea"/>
                <a:cs typeface="Malgun Gothic"/>
              </a:rPr>
              <a:t> </a:t>
            </a:r>
            <a:r>
              <a:rPr lang="en-US" altLang="ko-KR" sz="1600" spc="-5" dirty="0">
                <a:solidFill>
                  <a:srgbClr val="558ED5"/>
                </a:solidFill>
                <a:latin typeface="+mn-ea"/>
                <a:cs typeface="Malgun Gothic"/>
              </a:rPr>
              <a:t>Edge System(Python </a:t>
            </a:r>
            <a:r>
              <a:rPr lang="ko-KR" altLang="en-US" sz="1600" spc="-5" dirty="0">
                <a:solidFill>
                  <a:srgbClr val="558ED5"/>
                </a:solidFill>
                <a:latin typeface="+mn-ea"/>
                <a:cs typeface="Malgun Gothic"/>
              </a:rPr>
              <a:t>기반</a:t>
            </a:r>
            <a:r>
              <a:rPr lang="en-US" altLang="ko-KR" sz="1600" spc="-5" dirty="0">
                <a:solidFill>
                  <a:srgbClr val="558ED5"/>
                </a:solidFill>
                <a:latin typeface="+mn-ea"/>
                <a:cs typeface="Malgun Gothic"/>
              </a:rPr>
              <a:t>, </a:t>
            </a:r>
            <a:r>
              <a:rPr lang="ko-KR" altLang="en-US" sz="1600" spc="-5" dirty="0">
                <a:solidFill>
                  <a:srgbClr val="558ED5"/>
                </a:solidFill>
                <a:latin typeface="+mn-ea"/>
                <a:cs typeface="Malgun Gothic"/>
              </a:rPr>
              <a:t>공통</a:t>
            </a:r>
            <a:r>
              <a:rPr lang="en-US" altLang="ko-KR" sz="1600" spc="-5" dirty="0">
                <a:solidFill>
                  <a:srgbClr val="558ED5"/>
                </a:solidFill>
                <a:latin typeface="+mn-ea"/>
                <a:cs typeface="Malgun Gothic"/>
              </a:rPr>
              <a:t>)</a:t>
            </a:r>
          </a:p>
          <a:p>
            <a:pPr marL="812165" lvl="1" indent="-342900">
              <a:spcBef>
                <a:spcPts val="105"/>
              </a:spcBef>
              <a:buFontTx/>
              <a:buChar char="-"/>
              <a:tabLst>
                <a:tab pos="299720" algn="l"/>
              </a:tabLst>
            </a:pPr>
            <a:r>
              <a:rPr lang="en-US" altLang="ko-KR" sz="1600" dirty="0">
                <a:latin typeface="+mn-ea"/>
              </a:rPr>
              <a:t>1-1.</a:t>
            </a:r>
            <a:r>
              <a:rPr lang="ko-KR" altLang="en-US" sz="1600" dirty="0">
                <a:latin typeface="+mn-ea"/>
              </a:rPr>
              <a:t> </a:t>
            </a:r>
            <a:r>
              <a:rPr lang="en-US" altLang="ko-KR" sz="1600" dirty="0">
                <a:latin typeface="+mn-ea"/>
              </a:rPr>
              <a:t>YoloV5 pretrained model </a:t>
            </a:r>
            <a:r>
              <a:rPr lang="ko-KR" altLang="en-US" sz="1600" dirty="0">
                <a:latin typeface="+mn-ea"/>
              </a:rPr>
              <a:t>사용</a:t>
            </a:r>
            <a:endParaRPr lang="en-US" altLang="ko-KR" sz="1600" dirty="0">
              <a:latin typeface="+mn-ea"/>
            </a:endParaRPr>
          </a:p>
          <a:p>
            <a:pPr marL="812165" lvl="1" indent="-342900">
              <a:spcBef>
                <a:spcPts val="105"/>
              </a:spcBef>
              <a:buFontTx/>
              <a:buChar char="-"/>
              <a:tabLst>
                <a:tab pos="299720" algn="l"/>
              </a:tabLst>
            </a:pPr>
            <a:r>
              <a:rPr lang="en-US" altLang="ko-KR" sz="1600" dirty="0">
                <a:latin typeface="+mn-ea"/>
              </a:rPr>
              <a:t>1-2.</a:t>
            </a:r>
            <a:r>
              <a:rPr lang="ko-KR" altLang="en-US" sz="1600" dirty="0">
                <a:latin typeface="+mn-ea"/>
              </a:rPr>
              <a:t> </a:t>
            </a:r>
            <a:r>
              <a:rPr lang="en-US" altLang="ko-KR" sz="1600" dirty="0" err="1">
                <a:latin typeface="+mn-ea"/>
              </a:rPr>
              <a:t>Ms</a:t>
            </a:r>
            <a:r>
              <a:rPr lang="en-US" altLang="ko-KR" sz="1600" dirty="0">
                <a:latin typeface="+mn-ea"/>
              </a:rPr>
              <a:t> coco </a:t>
            </a:r>
            <a:r>
              <a:rPr lang="ko-KR" altLang="en-US" sz="1600" dirty="0">
                <a:latin typeface="+mn-ea"/>
              </a:rPr>
              <a:t>훈련데이터 기준 검출 객체 </a:t>
            </a:r>
            <a:r>
              <a:rPr lang="en-US" altLang="ko-KR" sz="1600" dirty="0">
                <a:latin typeface="+mn-ea"/>
              </a:rPr>
              <a:t>(Classes) : 80</a:t>
            </a:r>
            <a:r>
              <a:rPr lang="ko-KR" altLang="en-US" sz="1600" dirty="0">
                <a:latin typeface="+mn-ea"/>
              </a:rPr>
              <a:t>가지 객체 검출 기능</a:t>
            </a:r>
            <a:endParaRPr lang="en-US" altLang="ko-KR" sz="1600" dirty="0">
              <a:latin typeface="+mn-ea"/>
            </a:endParaRPr>
          </a:p>
          <a:p>
            <a:pPr marL="812165" lvl="1" indent="-342900">
              <a:spcBef>
                <a:spcPts val="105"/>
              </a:spcBef>
              <a:buFontTx/>
              <a:buChar char="-"/>
              <a:tabLst>
                <a:tab pos="299720" algn="l"/>
              </a:tabLst>
            </a:pPr>
            <a:r>
              <a:rPr lang="en-US" altLang="ko-KR" sz="1600" dirty="0">
                <a:latin typeface="+mn-ea"/>
              </a:rPr>
              <a:t>1-3.</a:t>
            </a:r>
            <a:r>
              <a:rPr lang="ko-KR" altLang="en-US" sz="1600" dirty="0">
                <a:latin typeface="+mn-ea"/>
              </a:rPr>
              <a:t> 한 종류의 객체를 동일한 객체로 가능한 </a:t>
            </a:r>
            <a:r>
              <a:rPr lang="en-US" altLang="ko-KR" sz="1600" dirty="0">
                <a:latin typeface="+mn-ea"/>
              </a:rPr>
              <a:t>Change Detection</a:t>
            </a:r>
          </a:p>
          <a:p>
            <a:pPr marL="812165" lvl="1" indent="-342900">
              <a:spcBef>
                <a:spcPts val="105"/>
              </a:spcBef>
              <a:buFontTx/>
              <a:buChar char="-"/>
              <a:tabLst>
                <a:tab pos="299720" algn="l"/>
              </a:tabLst>
            </a:pPr>
            <a:r>
              <a:rPr lang="en-US" altLang="ko-KR" sz="1600" dirty="0">
                <a:latin typeface="+mn-ea"/>
                <a:cs typeface="Gulim"/>
              </a:rPr>
              <a:t>1-4.</a:t>
            </a:r>
            <a:r>
              <a:rPr lang="ko-KR" altLang="en-US" sz="1600" dirty="0">
                <a:latin typeface="+mn-ea"/>
                <a:cs typeface="Gulim"/>
              </a:rPr>
              <a:t> 게시를 위한 </a:t>
            </a:r>
            <a:r>
              <a:rPr lang="en-US" altLang="ko-Kore-KR" sz="1600" dirty="0">
                <a:latin typeface="+mn-ea"/>
                <a:cs typeface="Gulim"/>
              </a:rPr>
              <a:t>HTTP</a:t>
            </a:r>
            <a:r>
              <a:rPr lang="ko-KR" altLang="en-US" sz="1600" dirty="0">
                <a:latin typeface="+mn-ea"/>
                <a:cs typeface="Gulim"/>
              </a:rPr>
              <a:t> </a:t>
            </a:r>
            <a:r>
              <a:rPr lang="en-US" altLang="ko-KR" sz="1600" dirty="0" err="1">
                <a:latin typeface="+mn-ea"/>
                <a:cs typeface="Gulim"/>
              </a:rPr>
              <a:t>Restfull</a:t>
            </a:r>
            <a:r>
              <a:rPr lang="en-US" altLang="ko-KR" sz="1600" dirty="0">
                <a:latin typeface="+mn-ea"/>
                <a:cs typeface="Gulim"/>
              </a:rPr>
              <a:t> API </a:t>
            </a:r>
            <a:r>
              <a:rPr lang="ko-KR" altLang="en-US" sz="1600" dirty="0">
                <a:latin typeface="+mn-ea"/>
                <a:cs typeface="Gulim"/>
              </a:rPr>
              <a:t>사용</a:t>
            </a:r>
            <a:r>
              <a:rPr lang="en-US" altLang="ko-KR" sz="1600" dirty="0">
                <a:latin typeface="+mn-ea"/>
                <a:cs typeface="Gulim"/>
              </a:rPr>
              <a:t>(</a:t>
            </a:r>
            <a:r>
              <a:rPr lang="ko-KR" altLang="en-US" sz="1600" dirty="0">
                <a:latin typeface="+mn-ea"/>
                <a:cs typeface="Gulim"/>
              </a:rPr>
              <a:t>공통</a:t>
            </a:r>
            <a:r>
              <a:rPr lang="en-US" altLang="ko-KR" sz="1600" dirty="0">
                <a:latin typeface="+mn-ea"/>
                <a:cs typeface="Gulim"/>
              </a:rPr>
              <a:t>)</a:t>
            </a:r>
          </a:p>
          <a:p>
            <a:pPr marL="812165" lvl="1" indent="-342900">
              <a:spcBef>
                <a:spcPts val="105"/>
              </a:spcBef>
              <a:buFontTx/>
              <a:buChar char="-"/>
              <a:tabLst>
                <a:tab pos="299720" algn="l"/>
              </a:tabLst>
            </a:pPr>
            <a:r>
              <a:rPr lang="en-US" altLang="ko-KR" sz="1600" dirty="0">
                <a:latin typeface="+mn-ea"/>
                <a:cs typeface="Gulim"/>
              </a:rPr>
              <a:t>1-5.</a:t>
            </a:r>
            <a:r>
              <a:rPr lang="ko-KR" altLang="en-US" sz="1600" dirty="0">
                <a:latin typeface="+mn-ea"/>
                <a:cs typeface="Gulim"/>
              </a:rPr>
              <a:t> 추가기능</a:t>
            </a:r>
            <a:endParaRPr lang="en-US" altLang="ko-KR" sz="1600" dirty="0">
              <a:latin typeface="+mn-ea"/>
              <a:cs typeface="Gulim"/>
            </a:endParaRPr>
          </a:p>
          <a:p>
            <a:pPr marL="812165" lvl="1" indent="-342900">
              <a:spcBef>
                <a:spcPts val="105"/>
              </a:spcBef>
              <a:buFontTx/>
              <a:buChar char="-"/>
              <a:tabLst>
                <a:tab pos="299720" algn="l"/>
              </a:tabLst>
            </a:pPr>
            <a:endParaRPr lang="en-US" altLang="ko-KR" sz="900" dirty="0">
              <a:latin typeface="+mn-ea"/>
            </a:endParaRPr>
          </a:p>
          <a:p>
            <a:pPr marL="299085" indent="-287020">
              <a:spcBef>
                <a:spcPts val="105"/>
              </a:spcBef>
              <a:buFont typeface="Wingdings"/>
              <a:buChar char=""/>
              <a:tabLst>
                <a:tab pos="299720" algn="l"/>
              </a:tabLst>
            </a:pPr>
            <a:r>
              <a:rPr lang="en-US" altLang="ko-KR" sz="1600" spc="-5" dirty="0">
                <a:solidFill>
                  <a:srgbClr val="558ED5"/>
                </a:solidFill>
                <a:latin typeface="+mn-ea"/>
                <a:cs typeface="Malgun Gothic"/>
              </a:rPr>
              <a:t>2.</a:t>
            </a:r>
            <a:r>
              <a:rPr lang="ko-KR" altLang="en-US" sz="1600" spc="-5" dirty="0">
                <a:solidFill>
                  <a:srgbClr val="558ED5"/>
                </a:solidFill>
                <a:latin typeface="+mn-ea"/>
                <a:cs typeface="Malgun Gothic"/>
              </a:rPr>
              <a:t> </a:t>
            </a:r>
            <a:r>
              <a:rPr lang="en-US" sz="1600" spc="-5" dirty="0">
                <a:solidFill>
                  <a:srgbClr val="558ED5"/>
                </a:solidFill>
                <a:latin typeface="+mn-ea"/>
                <a:cs typeface="Malgun Gothic"/>
              </a:rPr>
              <a:t>Service System(Python, Django </a:t>
            </a:r>
            <a:r>
              <a:rPr lang="ko-KR" altLang="en-US" sz="1600" spc="-5" dirty="0">
                <a:solidFill>
                  <a:srgbClr val="558ED5"/>
                </a:solidFill>
                <a:latin typeface="+mn-ea"/>
                <a:cs typeface="Malgun Gothic"/>
              </a:rPr>
              <a:t>기반</a:t>
            </a:r>
            <a:r>
              <a:rPr lang="en-US" altLang="ko-KR" sz="1600" spc="-5" dirty="0">
                <a:solidFill>
                  <a:srgbClr val="558ED5"/>
                </a:solidFill>
                <a:latin typeface="+mn-ea"/>
                <a:cs typeface="Malgun Gothic"/>
              </a:rPr>
              <a:t>,</a:t>
            </a:r>
            <a:r>
              <a:rPr lang="ko-KR" altLang="en-US" sz="1600" spc="-5" dirty="0">
                <a:solidFill>
                  <a:srgbClr val="558ED5"/>
                </a:solidFill>
                <a:latin typeface="+mn-ea"/>
                <a:cs typeface="Malgun Gothic"/>
              </a:rPr>
              <a:t> </a:t>
            </a:r>
            <a:r>
              <a:rPr lang="en-US" altLang="ko-KR" sz="1600" spc="-5" dirty="0" err="1">
                <a:solidFill>
                  <a:srgbClr val="558ED5"/>
                </a:solidFill>
                <a:latin typeface="+mn-ea"/>
                <a:cs typeface="Malgun Gothic"/>
              </a:rPr>
              <a:t>Pythonanywhere</a:t>
            </a:r>
            <a:r>
              <a:rPr lang="en-US" altLang="ko-KR" sz="1600" spc="-5" dirty="0">
                <a:solidFill>
                  <a:srgbClr val="558ED5"/>
                </a:solidFill>
                <a:latin typeface="+mn-ea"/>
                <a:cs typeface="Malgun Gothic"/>
              </a:rPr>
              <a:t> </a:t>
            </a:r>
            <a:r>
              <a:rPr lang="ko-KR" altLang="en-US" sz="1600" spc="-5" dirty="0">
                <a:solidFill>
                  <a:srgbClr val="558ED5"/>
                </a:solidFill>
                <a:latin typeface="+mn-ea"/>
                <a:cs typeface="Malgun Gothic"/>
              </a:rPr>
              <a:t>클라우드상 서비스 구동</a:t>
            </a:r>
            <a:r>
              <a:rPr lang="en-US" altLang="ko-KR" sz="1600" spc="-5" dirty="0">
                <a:solidFill>
                  <a:srgbClr val="558ED5"/>
                </a:solidFill>
                <a:latin typeface="+mn-ea"/>
                <a:cs typeface="Malgun Gothic"/>
              </a:rPr>
              <a:t>,</a:t>
            </a:r>
            <a:r>
              <a:rPr lang="ko-KR" altLang="en-US" sz="1600" spc="-5" dirty="0">
                <a:solidFill>
                  <a:srgbClr val="558ED5"/>
                </a:solidFill>
                <a:latin typeface="+mn-ea"/>
                <a:cs typeface="Malgun Gothic"/>
              </a:rPr>
              <a:t> 일부 확장 기능 가능</a:t>
            </a:r>
            <a:r>
              <a:rPr lang="en-US" sz="1600" spc="-5" dirty="0">
                <a:solidFill>
                  <a:srgbClr val="558ED5"/>
                </a:solidFill>
                <a:latin typeface="+mn-ea"/>
                <a:cs typeface="Malgun Gothic"/>
              </a:rPr>
              <a:t>)</a:t>
            </a:r>
            <a:endParaRPr sz="1600" dirty="0">
              <a:latin typeface="+mn-ea"/>
              <a:cs typeface="Malgun Gothic"/>
            </a:endParaRPr>
          </a:p>
          <a:p>
            <a:pPr marL="812165" lvl="1" indent="-342900">
              <a:spcBef>
                <a:spcPts val="105"/>
              </a:spcBef>
              <a:buFontTx/>
              <a:buChar char="-"/>
              <a:tabLst>
                <a:tab pos="299720" algn="l"/>
              </a:tabLst>
            </a:pPr>
            <a:r>
              <a:rPr lang="en-US" altLang="ko-KR" sz="1600" dirty="0">
                <a:latin typeface="+mn-ea"/>
              </a:rPr>
              <a:t>2-1.</a:t>
            </a:r>
            <a:r>
              <a:rPr lang="ko-KR" altLang="en-US" sz="1600" dirty="0">
                <a:latin typeface="+mn-ea"/>
              </a:rPr>
              <a:t> 사용자 보안 기능</a:t>
            </a:r>
            <a:r>
              <a:rPr lang="en-US" altLang="ko-KR" sz="1600" dirty="0">
                <a:latin typeface="+mn-ea"/>
              </a:rPr>
              <a:t>(</a:t>
            </a:r>
            <a:r>
              <a:rPr lang="ko-KR" altLang="en-US" sz="1600" dirty="0">
                <a:latin typeface="+mn-ea"/>
              </a:rPr>
              <a:t>보안키를 이용한 로그인</a:t>
            </a:r>
            <a:r>
              <a:rPr lang="en-US" altLang="ko-KR" sz="1600" dirty="0">
                <a:latin typeface="+mn-ea"/>
              </a:rPr>
              <a:t>,</a:t>
            </a:r>
            <a:r>
              <a:rPr lang="ko-KR" altLang="en-US" sz="1600" dirty="0">
                <a:latin typeface="+mn-ea"/>
              </a:rPr>
              <a:t> 공통</a:t>
            </a:r>
            <a:r>
              <a:rPr lang="en-US" altLang="ko-KR" sz="1600" dirty="0">
                <a:latin typeface="+mn-ea"/>
              </a:rPr>
              <a:t>)</a:t>
            </a:r>
          </a:p>
          <a:p>
            <a:pPr marL="812165" lvl="1" indent="-342900">
              <a:spcBef>
                <a:spcPts val="105"/>
              </a:spcBef>
              <a:buFontTx/>
              <a:buChar char="-"/>
              <a:tabLst>
                <a:tab pos="299720" algn="l"/>
              </a:tabLst>
            </a:pPr>
            <a:r>
              <a:rPr lang="en-US" altLang="ko-KR" sz="1600" dirty="0">
                <a:latin typeface="+mn-ea"/>
              </a:rPr>
              <a:t>2-2.</a:t>
            </a:r>
            <a:r>
              <a:rPr lang="ko-KR" altLang="en-US" sz="1600" dirty="0">
                <a:latin typeface="+mn-ea"/>
              </a:rPr>
              <a:t> </a:t>
            </a:r>
            <a:r>
              <a:rPr lang="en-US" altLang="ko-KR" sz="1600" dirty="0">
                <a:latin typeface="+mn-ea"/>
              </a:rPr>
              <a:t>Image</a:t>
            </a:r>
            <a:r>
              <a:rPr lang="en-US" altLang="ko-KR" sz="1600" dirty="0">
                <a:latin typeface="+mn-ea"/>
                <a:cs typeface="Gulim"/>
              </a:rPr>
              <a:t> </a:t>
            </a:r>
            <a:r>
              <a:rPr lang="en-US" altLang="ko-KR" sz="1600" dirty="0">
                <a:latin typeface="+mn-ea"/>
              </a:rPr>
              <a:t>Blog</a:t>
            </a:r>
            <a:r>
              <a:rPr lang="en-US" altLang="ko-KR" sz="1600" dirty="0">
                <a:latin typeface="+mn-ea"/>
                <a:cs typeface="Gulim"/>
              </a:rPr>
              <a:t> </a:t>
            </a:r>
            <a:r>
              <a:rPr lang="ko-KR" altLang="en-US" sz="1600" dirty="0">
                <a:latin typeface="+mn-ea"/>
                <a:cs typeface="Gulim"/>
              </a:rPr>
              <a:t>및 </a:t>
            </a:r>
            <a:r>
              <a:rPr lang="ko-KR" altLang="en-US" sz="1600" dirty="0">
                <a:latin typeface="+mn-ea"/>
              </a:rPr>
              <a:t>관리</a:t>
            </a:r>
            <a:r>
              <a:rPr lang="ko-KR" altLang="en-US" sz="1600" dirty="0">
                <a:latin typeface="+mn-ea"/>
                <a:cs typeface="Gulim"/>
              </a:rPr>
              <a:t> 기능</a:t>
            </a:r>
            <a:r>
              <a:rPr lang="en-US" altLang="ko-KR" sz="1600" dirty="0">
                <a:latin typeface="+mn-ea"/>
                <a:cs typeface="Gulim"/>
              </a:rPr>
              <a:t>(</a:t>
            </a:r>
            <a:r>
              <a:rPr lang="ko-KR" altLang="en-US" sz="1600" dirty="0">
                <a:latin typeface="+mn-ea"/>
              </a:rPr>
              <a:t>공통</a:t>
            </a:r>
            <a:r>
              <a:rPr lang="en-US" altLang="ko-KR" sz="1600" dirty="0">
                <a:latin typeface="+mn-ea"/>
                <a:cs typeface="Gulim"/>
              </a:rPr>
              <a:t>,</a:t>
            </a:r>
            <a:r>
              <a:rPr lang="ko-KR" altLang="en-US" sz="1600" dirty="0">
                <a:latin typeface="+mn-ea"/>
                <a:cs typeface="Gulim"/>
              </a:rPr>
              <a:t> 일부 확장 기능 가능</a:t>
            </a:r>
            <a:r>
              <a:rPr lang="en-US" altLang="ko-KR" sz="1600" dirty="0">
                <a:latin typeface="+mn-ea"/>
                <a:cs typeface="Gulim"/>
              </a:rPr>
              <a:t>)</a:t>
            </a:r>
          </a:p>
          <a:p>
            <a:pPr marL="812165" lvl="1" indent="-342900">
              <a:spcBef>
                <a:spcPts val="105"/>
              </a:spcBef>
              <a:buFontTx/>
              <a:buChar char="-"/>
              <a:tabLst>
                <a:tab pos="299720" algn="l"/>
              </a:tabLst>
            </a:pPr>
            <a:r>
              <a:rPr lang="en-US" altLang="ko-KR" sz="1600" dirty="0">
                <a:latin typeface="+mn-ea"/>
                <a:cs typeface="Gulim"/>
              </a:rPr>
              <a:t>2-3.</a:t>
            </a:r>
            <a:r>
              <a:rPr lang="ko-KR" altLang="en-US" sz="1600" dirty="0">
                <a:latin typeface="+mn-ea"/>
                <a:cs typeface="Gulim"/>
              </a:rPr>
              <a:t> 게시를 위한 </a:t>
            </a:r>
            <a:r>
              <a:rPr lang="en-US" sz="1600" dirty="0">
                <a:latin typeface="+mn-ea"/>
                <a:cs typeface="Gulim"/>
              </a:rPr>
              <a:t>HTTP</a:t>
            </a:r>
            <a:r>
              <a:rPr lang="ko-KR" altLang="en-US" sz="1600" dirty="0">
                <a:latin typeface="+mn-ea"/>
                <a:cs typeface="Gulim"/>
              </a:rPr>
              <a:t> </a:t>
            </a:r>
            <a:r>
              <a:rPr lang="en-US" altLang="ko-KR" sz="1600" dirty="0" err="1">
                <a:latin typeface="+mn-ea"/>
                <a:cs typeface="Gulim"/>
              </a:rPr>
              <a:t>Restfull</a:t>
            </a:r>
            <a:r>
              <a:rPr lang="en-US" altLang="ko-KR" sz="1600" dirty="0">
                <a:latin typeface="+mn-ea"/>
                <a:cs typeface="Gulim"/>
              </a:rPr>
              <a:t> API </a:t>
            </a:r>
            <a:r>
              <a:rPr lang="ko-KR" altLang="en-US" sz="1600" dirty="0">
                <a:latin typeface="+mn-ea"/>
                <a:cs typeface="Gulim"/>
              </a:rPr>
              <a:t>제공</a:t>
            </a:r>
            <a:r>
              <a:rPr lang="en-US" altLang="ko-KR" sz="1600" dirty="0">
                <a:latin typeface="+mn-ea"/>
                <a:cs typeface="Gulim"/>
              </a:rPr>
              <a:t>(</a:t>
            </a:r>
            <a:r>
              <a:rPr lang="ko-KR" altLang="en-US" sz="1600" dirty="0">
                <a:latin typeface="+mn-ea"/>
                <a:cs typeface="Gulim"/>
              </a:rPr>
              <a:t>공통</a:t>
            </a:r>
            <a:r>
              <a:rPr lang="en-US" altLang="ko-KR" sz="1600" dirty="0">
                <a:latin typeface="+mn-ea"/>
                <a:cs typeface="Gulim"/>
              </a:rPr>
              <a:t>)</a:t>
            </a:r>
          </a:p>
          <a:p>
            <a:pPr marL="812165" lvl="1" indent="-342900">
              <a:spcBef>
                <a:spcPts val="105"/>
              </a:spcBef>
              <a:buFontTx/>
              <a:buChar char="-"/>
              <a:tabLst>
                <a:tab pos="299720" algn="l"/>
              </a:tabLst>
            </a:pPr>
            <a:r>
              <a:rPr lang="en-US" altLang="ko-KR" sz="1600" dirty="0">
                <a:latin typeface="+mn-ea"/>
                <a:cs typeface="Gulim"/>
              </a:rPr>
              <a:t>2-4.</a:t>
            </a:r>
            <a:r>
              <a:rPr lang="ko-KR" altLang="en-US" sz="1600" dirty="0">
                <a:latin typeface="+mn-ea"/>
                <a:cs typeface="Gulim"/>
              </a:rPr>
              <a:t> </a:t>
            </a:r>
            <a:r>
              <a:rPr lang="en-US" altLang="ko-KR" sz="1600" dirty="0">
                <a:latin typeface="+mn-ea"/>
                <a:cs typeface="Gulim"/>
              </a:rPr>
              <a:t>Image</a:t>
            </a:r>
            <a:r>
              <a:rPr lang="ko-KR" altLang="en-US" sz="1600" dirty="0">
                <a:latin typeface="+mn-ea"/>
                <a:cs typeface="Gulim"/>
              </a:rPr>
              <a:t> 목록</a:t>
            </a:r>
            <a:r>
              <a:rPr lang="en-US" altLang="ko-KR" sz="1600" dirty="0">
                <a:latin typeface="+mn-ea"/>
                <a:cs typeface="Gulim"/>
              </a:rPr>
              <a:t>,</a:t>
            </a:r>
            <a:r>
              <a:rPr lang="ko-KR" altLang="en-US" sz="1600" dirty="0">
                <a:latin typeface="+mn-ea"/>
                <a:cs typeface="Gulim"/>
              </a:rPr>
              <a:t> 획득을 위한 </a:t>
            </a:r>
            <a:r>
              <a:rPr lang="en-US" altLang="ko-Kore-KR" sz="1600" dirty="0">
                <a:latin typeface="+mn-ea"/>
                <a:cs typeface="Gulim"/>
              </a:rPr>
              <a:t>HTTP</a:t>
            </a:r>
            <a:r>
              <a:rPr lang="ko-KR" altLang="en-US" sz="1600" dirty="0">
                <a:latin typeface="+mn-ea"/>
                <a:cs typeface="Gulim"/>
              </a:rPr>
              <a:t> </a:t>
            </a:r>
            <a:r>
              <a:rPr lang="en-US" altLang="ko-KR" sz="1600" dirty="0" err="1">
                <a:latin typeface="+mn-ea"/>
                <a:cs typeface="Gulim"/>
              </a:rPr>
              <a:t>Restfull</a:t>
            </a:r>
            <a:r>
              <a:rPr lang="en-US" altLang="ko-KR" sz="1600" dirty="0">
                <a:latin typeface="+mn-ea"/>
                <a:cs typeface="Gulim"/>
              </a:rPr>
              <a:t> API </a:t>
            </a:r>
            <a:r>
              <a:rPr lang="ko-KR" altLang="en-US" sz="1600" dirty="0">
                <a:latin typeface="+mn-ea"/>
                <a:cs typeface="Gulim"/>
              </a:rPr>
              <a:t>제공</a:t>
            </a:r>
            <a:r>
              <a:rPr lang="en-US" altLang="ko-KR" sz="1600" dirty="0">
                <a:latin typeface="+mn-ea"/>
                <a:cs typeface="Gulim"/>
              </a:rPr>
              <a:t>(</a:t>
            </a:r>
            <a:r>
              <a:rPr lang="ko-KR" altLang="en-US" sz="1600" dirty="0">
                <a:latin typeface="+mn-ea"/>
                <a:cs typeface="Gulim"/>
              </a:rPr>
              <a:t>신규 추가 필요</a:t>
            </a:r>
            <a:r>
              <a:rPr lang="en-US" altLang="ko-KR" sz="1600" dirty="0">
                <a:latin typeface="+mn-ea"/>
                <a:cs typeface="Gulim"/>
              </a:rPr>
              <a:t>)</a:t>
            </a:r>
          </a:p>
          <a:p>
            <a:pPr marL="812165" lvl="1" indent="-342900">
              <a:spcBef>
                <a:spcPts val="105"/>
              </a:spcBef>
              <a:buFontTx/>
              <a:buChar char="-"/>
              <a:tabLst>
                <a:tab pos="299720" algn="l"/>
              </a:tabLst>
            </a:pPr>
            <a:r>
              <a:rPr lang="en-US" altLang="ko-KR" sz="1600" dirty="0">
                <a:latin typeface="+mn-ea"/>
                <a:cs typeface="Gulim"/>
              </a:rPr>
              <a:t>2-5.</a:t>
            </a:r>
            <a:r>
              <a:rPr lang="ko-KR" altLang="en-US" sz="1600" dirty="0">
                <a:latin typeface="+mn-ea"/>
                <a:cs typeface="Gulim"/>
              </a:rPr>
              <a:t> 추가 기능</a:t>
            </a:r>
            <a:endParaRPr lang="en-US" altLang="ko-KR" sz="1600" dirty="0">
              <a:latin typeface="+mn-ea"/>
              <a:cs typeface="Gulim"/>
            </a:endParaRPr>
          </a:p>
          <a:p>
            <a:pPr marL="812165" lvl="1" indent="-342900">
              <a:spcBef>
                <a:spcPts val="105"/>
              </a:spcBef>
              <a:buFontTx/>
              <a:buChar char="-"/>
              <a:tabLst>
                <a:tab pos="299720" algn="l"/>
              </a:tabLst>
            </a:pPr>
            <a:endParaRPr lang="en-US" altLang="ko-KR" sz="900" dirty="0">
              <a:latin typeface="+mn-ea"/>
              <a:cs typeface="Gulim"/>
            </a:endParaRPr>
          </a:p>
          <a:p>
            <a:pPr marL="299085" indent="-287020">
              <a:spcBef>
                <a:spcPts val="105"/>
              </a:spcBef>
              <a:buFont typeface="Wingdings"/>
              <a:buChar char=""/>
              <a:tabLst>
                <a:tab pos="299720" algn="l"/>
              </a:tabLst>
            </a:pPr>
            <a:r>
              <a:rPr lang="en-US" altLang="ko-KR" sz="1600" spc="-5" dirty="0">
                <a:solidFill>
                  <a:srgbClr val="558ED5"/>
                </a:solidFill>
                <a:latin typeface="+mn-ea"/>
                <a:cs typeface="Malgun Gothic"/>
              </a:rPr>
              <a:t>3.</a:t>
            </a:r>
            <a:r>
              <a:rPr lang="ko-KR" altLang="en-US" sz="1600" spc="-5" dirty="0">
                <a:solidFill>
                  <a:srgbClr val="558ED5"/>
                </a:solidFill>
                <a:latin typeface="+mn-ea"/>
                <a:cs typeface="Malgun Gothic"/>
              </a:rPr>
              <a:t> </a:t>
            </a:r>
            <a:r>
              <a:rPr lang="en-US" altLang="ko-Kore-KR" sz="1600" spc="-5" dirty="0">
                <a:solidFill>
                  <a:srgbClr val="558ED5"/>
                </a:solidFill>
                <a:latin typeface="+mn-ea"/>
                <a:cs typeface="Malgun Gothic"/>
              </a:rPr>
              <a:t>Client System(Android, Native App</a:t>
            </a:r>
            <a:r>
              <a:rPr lang="en-US" altLang="ko-KR" sz="1600" spc="-5" dirty="0">
                <a:solidFill>
                  <a:srgbClr val="558ED5"/>
                </a:solidFill>
                <a:latin typeface="+mn-ea"/>
                <a:cs typeface="Malgun Gothic"/>
              </a:rPr>
              <a:t>,</a:t>
            </a:r>
            <a:r>
              <a:rPr lang="ko-KR" altLang="en-US" sz="1600" spc="-5" dirty="0">
                <a:solidFill>
                  <a:srgbClr val="558ED5"/>
                </a:solidFill>
                <a:latin typeface="+mn-ea"/>
                <a:cs typeface="Malgun Gothic"/>
              </a:rPr>
              <a:t> 개별 제안</a:t>
            </a:r>
            <a:r>
              <a:rPr lang="en-US" altLang="ko-KR" sz="1600" spc="-5" dirty="0">
                <a:solidFill>
                  <a:srgbClr val="558ED5"/>
                </a:solidFill>
                <a:latin typeface="+mn-ea"/>
                <a:cs typeface="Malgun Gothic"/>
              </a:rPr>
              <a:t>)</a:t>
            </a:r>
            <a:endParaRPr lang="ko-KR" altLang="en-US" sz="1600" dirty="0">
              <a:latin typeface="+mn-ea"/>
              <a:cs typeface="Malgun Gothic"/>
            </a:endParaRPr>
          </a:p>
          <a:p>
            <a:pPr marL="812165" lvl="1" indent="-342900">
              <a:spcBef>
                <a:spcPts val="105"/>
              </a:spcBef>
              <a:buFontTx/>
              <a:buChar char="-"/>
              <a:tabLst>
                <a:tab pos="299720" algn="l"/>
              </a:tabLst>
            </a:pPr>
            <a:r>
              <a:rPr lang="en-US" altLang="ko-KR" sz="1600" dirty="0">
                <a:latin typeface="+mn-ea"/>
                <a:cs typeface="Gulim"/>
              </a:rPr>
              <a:t>3.1.</a:t>
            </a:r>
            <a:r>
              <a:rPr lang="ko-KR" altLang="en-US" sz="1600" dirty="0">
                <a:latin typeface="+mn-ea"/>
                <a:cs typeface="Gulim"/>
              </a:rPr>
              <a:t> </a:t>
            </a:r>
            <a:r>
              <a:rPr lang="en-US" altLang="ko-KR" sz="1600" dirty="0">
                <a:latin typeface="+mn-ea"/>
                <a:cs typeface="Gulim"/>
              </a:rPr>
              <a:t>Image list view </a:t>
            </a:r>
            <a:r>
              <a:rPr lang="ko-KR" altLang="en-US" sz="1600" dirty="0">
                <a:latin typeface="+mn-ea"/>
                <a:cs typeface="Gulim"/>
              </a:rPr>
              <a:t>기능</a:t>
            </a:r>
            <a:r>
              <a:rPr lang="en-US" altLang="ko-KR" sz="1600" dirty="0">
                <a:latin typeface="+mn-ea"/>
                <a:cs typeface="Gulim"/>
              </a:rPr>
              <a:t>(</a:t>
            </a:r>
            <a:r>
              <a:rPr lang="ko-KR" altLang="en-US" sz="1600" dirty="0">
                <a:latin typeface="+mn-ea"/>
                <a:cs typeface="Gulim"/>
              </a:rPr>
              <a:t>공통 기능</a:t>
            </a:r>
            <a:r>
              <a:rPr lang="en-US" altLang="ko-KR" sz="1600" dirty="0">
                <a:latin typeface="+mn-ea"/>
                <a:cs typeface="Gulim"/>
              </a:rPr>
              <a:t>,</a:t>
            </a:r>
            <a:r>
              <a:rPr lang="ko-KR" altLang="en-US" sz="1600" dirty="0">
                <a:latin typeface="+mn-ea"/>
                <a:cs typeface="Gulim"/>
              </a:rPr>
              <a:t> 개별 제안</a:t>
            </a:r>
            <a:r>
              <a:rPr lang="en-US" altLang="ko-KR" sz="1600" dirty="0">
                <a:latin typeface="+mn-ea"/>
                <a:cs typeface="Gulim"/>
              </a:rPr>
              <a:t>)</a:t>
            </a:r>
          </a:p>
          <a:p>
            <a:pPr marL="812165" lvl="1" indent="-342900">
              <a:spcBef>
                <a:spcPts val="105"/>
              </a:spcBef>
              <a:buFontTx/>
              <a:buChar char="-"/>
              <a:tabLst>
                <a:tab pos="299720" algn="l"/>
              </a:tabLst>
            </a:pPr>
            <a:r>
              <a:rPr lang="en-US" altLang="ko-KR" sz="1600" dirty="0">
                <a:latin typeface="+mn-ea"/>
                <a:cs typeface="Gulim"/>
              </a:rPr>
              <a:t>3.2.</a:t>
            </a:r>
            <a:r>
              <a:rPr lang="ko-KR" altLang="en-US" sz="1600" dirty="0">
                <a:latin typeface="+mn-ea"/>
                <a:cs typeface="Gulim"/>
              </a:rPr>
              <a:t> </a:t>
            </a:r>
            <a:r>
              <a:rPr lang="en-US" altLang="ko-KR" sz="1600" dirty="0">
                <a:latin typeface="+mn-ea"/>
                <a:cs typeface="Gulim"/>
              </a:rPr>
              <a:t>Image</a:t>
            </a:r>
            <a:r>
              <a:rPr lang="ko-KR" altLang="en-US" sz="1600" dirty="0">
                <a:latin typeface="+mn-ea"/>
                <a:cs typeface="Gulim"/>
              </a:rPr>
              <a:t> 목록</a:t>
            </a:r>
            <a:r>
              <a:rPr lang="en-US" altLang="ko-KR" sz="1600" dirty="0">
                <a:latin typeface="+mn-ea"/>
                <a:cs typeface="Gulim"/>
              </a:rPr>
              <a:t>,</a:t>
            </a:r>
            <a:r>
              <a:rPr lang="ko-KR" altLang="en-US" sz="1600" dirty="0">
                <a:latin typeface="+mn-ea"/>
                <a:cs typeface="Gulim"/>
              </a:rPr>
              <a:t> 획득을 위한 </a:t>
            </a:r>
            <a:r>
              <a:rPr lang="en-US" altLang="ko-Kore-KR" sz="1600" dirty="0">
                <a:latin typeface="+mn-ea"/>
                <a:cs typeface="Gulim"/>
              </a:rPr>
              <a:t>HTTP</a:t>
            </a:r>
            <a:r>
              <a:rPr lang="ko-KR" altLang="en-US" sz="1600" dirty="0">
                <a:latin typeface="+mn-ea"/>
                <a:cs typeface="Gulim"/>
              </a:rPr>
              <a:t> </a:t>
            </a:r>
            <a:r>
              <a:rPr lang="en-US" altLang="ko-KR" sz="1600" dirty="0" err="1">
                <a:latin typeface="+mn-ea"/>
                <a:cs typeface="Gulim"/>
              </a:rPr>
              <a:t>Restfull</a:t>
            </a:r>
            <a:r>
              <a:rPr lang="en-US" altLang="ko-KR" sz="1600" dirty="0">
                <a:latin typeface="+mn-ea"/>
                <a:cs typeface="Gulim"/>
              </a:rPr>
              <a:t> API </a:t>
            </a:r>
            <a:r>
              <a:rPr lang="ko-KR" altLang="en-US" sz="1600" dirty="0">
                <a:latin typeface="+mn-ea"/>
                <a:cs typeface="Gulim"/>
              </a:rPr>
              <a:t>사용</a:t>
            </a:r>
            <a:r>
              <a:rPr lang="en-US" altLang="ko-KR" sz="1600" dirty="0">
                <a:latin typeface="+mn-ea"/>
                <a:cs typeface="Gulim"/>
              </a:rPr>
              <a:t>(</a:t>
            </a:r>
            <a:r>
              <a:rPr lang="ko-KR" altLang="en-US" sz="1600" dirty="0">
                <a:latin typeface="+mn-ea"/>
                <a:cs typeface="Gulim"/>
              </a:rPr>
              <a:t>신규 추가 필요</a:t>
            </a:r>
            <a:r>
              <a:rPr lang="en-US" altLang="ko-KR" sz="1600" dirty="0">
                <a:latin typeface="+mn-ea"/>
                <a:cs typeface="Gulim"/>
              </a:rPr>
              <a:t>)</a:t>
            </a:r>
          </a:p>
          <a:p>
            <a:pPr marL="812165" lvl="1" indent="-342900">
              <a:spcBef>
                <a:spcPts val="105"/>
              </a:spcBef>
              <a:buFontTx/>
              <a:buChar char="-"/>
              <a:tabLst>
                <a:tab pos="299720" algn="l"/>
              </a:tabLst>
            </a:pPr>
            <a:r>
              <a:rPr lang="en-US" altLang="ko-KR" sz="1600" dirty="0">
                <a:latin typeface="+mn-ea"/>
                <a:cs typeface="Gulim"/>
              </a:rPr>
              <a:t>3.3.</a:t>
            </a:r>
            <a:r>
              <a:rPr lang="ko-KR" altLang="en-US" sz="1600" dirty="0">
                <a:latin typeface="+mn-ea"/>
                <a:cs typeface="Gulim"/>
              </a:rPr>
              <a:t> 공통기능 및 추가기능을 활용한 사용자 시나리오 및 </a:t>
            </a:r>
            <a:r>
              <a:rPr lang="en-US" altLang="ko-KR" sz="1600" dirty="0">
                <a:latin typeface="+mn-ea"/>
                <a:cs typeface="Gulim"/>
              </a:rPr>
              <a:t>UI </a:t>
            </a:r>
            <a:r>
              <a:rPr lang="ko-KR" altLang="en-US" sz="1600" dirty="0">
                <a:latin typeface="+mn-ea"/>
                <a:cs typeface="Gulim"/>
              </a:rPr>
              <a:t>제공</a:t>
            </a:r>
            <a:r>
              <a:rPr lang="en-US" altLang="ko-KR" sz="1600" dirty="0">
                <a:latin typeface="+mn-ea"/>
                <a:cs typeface="Gulim"/>
              </a:rPr>
              <a:t> (</a:t>
            </a:r>
            <a:r>
              <a:rPr lang="ko-KR" altLang="en-US" sz="1600" dirty="0">
                <a:latin typeface="+mn-ea"/>
                <a:cs typeface="Gulim"/>
              </a:rPr>
              <a:t>신규 추가 필요</a:t>
            </a:r>
            <a:r>
              <a:rPr lang="en-US" altLang="ko-KR" sz="1600" dirty="0">
                <a:latin typeface="+mn-ea"/>
                <a:cs typeface="Gulim"/>
              </a:rPr>
              <a:t>)</a:t>
            </a:r>
          </a:p>
          <a:p>
            <a:pPr marL="812165" lvl="1" indent="-342900">
              <a:spcBef>
                <a:spcPts val="105"/>
              </a:spcBef>
              <a:buFontTx/>
              <a:buChar char="-"/>
              <a:tabLst>
                <a:tab pos="299720" algn="l"/>
              </a:tabLst>
            </a:pPr>
            <a:r>
              <a:rPr lang="en-US" altLang="ko-KR" sz="1600" dirty="0">
                <a:latin typeface="+mn-ea"/>
                <a:cs typeface="Gulim"/>
              </a:rPr>
              <a:t>3-4.</a:t>
            </a:r>
            <a:r>
              <a:rPr lang="ko-KR" altLang="en-US" sz="1600" dirty="0">
                <a:latin typeface="+mn-ea"/>
                <a:cs typeface="Gulim"/>
              </a:rPr>
              <a:t> 추가 기능</a:t>
            </a:r>
            <a:endParaRPr lang="en-US" altLang="ko-KR" sz="1600" dirty="0">
              <a:latin typeface="+mn-ea"/>
              <a:cs typeface="Gulim"/>
            </a:endParaRPr>
          </a:p>
        </p:txBody>
      </p:sp>
    </p:spTree>
    <p:extLst>
      <p:ext uri="{BB962C8B-B14F-4D97-AF65-F5344CB8AC3E}">
        <p14:creationId xmlns:p14="http://schemas.microsoft.com/office/powerpoint/2010/main" val="38221314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79658644-18C5-09E3-5A99-583969EAF2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2018" y="2590800"/>
            <a:ext cx="2030258" cy="2788687"/>
          </a:xfrm>
          <a:prstGeom prst="rect">
            <a:avLst/>
          </a:prstGeom>
        </p:spPr>
      </p:pic>
      <p:sp>
        <p:nvSpPr>
          <p:cNvPr id="36" name="모서리가 둥근 직사각형 35">
            <a:extLst>
              <a:ext uri="{FF2B5EF4-FFF2-40B4-BE49-F238E27FC236}">
                <a16:creationId xmlns:a16="http://schemas.microsoft.com/office/drawing/2014/main" id="{42AE3B60-BC96-6ABB-6C4A-5C973F50649C}"/>
              </a:ext>
            </a:extLst>
          </p:cNvPr>
          <p:cNvSpPr/>
          <p:nvPr/>
        </p:nvSpPr>
        <p:spPr>
          <a:xfrm>
            <a:off x="3942441" y="2666999"/>
            <a:ext cx="2151817" cy="2694749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 sz="1100" dirty="0"/>
          </a:p>
        </p:txBody>
      </p: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611206EA-D141-C3C0-2DFF-A03FD7DA0CF1}"/>
              </a:ext>
            </a:extLst>
          </p:cNvPr>
          <p:cNvSpPr/>
          <p:nvPr/>
        </p:nvSpPr>
        <p:spPr>
          <a:xfrm>
            <a:off x="1941282" y="2667051"/>
            <a:ext cx="1543959" cy="2694749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 sz="1100" dirty="0"/>
          </a:p>
        </p:txBody>
      </p:sp>
      <p:sp>
        <p:nvSpPr>
          <p:cNvPr id="2" name="object 2"/>
          <p:cNvSpPr txBox="1"/>
          <p:nvPr/>
        </p:nvSpPr>
        <p:spPr>
          <a:xfrm>
            <a:off x="1208504" y="6486875"/>
            <a:ext cx="1705610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b="1" dirty="0">
                <a:solidFill>
                  <a:srgbClr val="1F497D"/>
                </a:solidFill>
                <a:latin typeface="Times New Roman"/>
                <a:cs typeface="Times New Roman"/>
              </a:rPr>
              <a:t>Image </a:t>
            </a:r>
            <a:r>
              <a:rPr sz="1400" b="1" spc="-5" dirty="0">
                <a:solidFill>
                  <a:srgbClr val="1F497D"/>
                </a:solidFill>
                <a:latin typeface="Times New Roman"/>
                <a:cs typeface="Times New Roman"/>
              </a:rPr>
              <a:t>Processing</a:t>
            </a:r>
            <a:r>
              <a:rPr sz="1400" b="1" spc="-70" dirty="0">
                <a:solidFill>
                  <a:srgbClr val="1F497D"/>
                </a:solidFill>
                <a:latin typeface="Times New Roman"/>
                <a:cs typeface="Times New Roman"/>
              </a:rPr>
              <a:t> </a:t>
            </a:r>
            <a:r>
              <a:rPr sz="1400" b="1" dirty="0">
                <a:solidFill>
                  <a:srgbClr val="1F497D"/>
                </a:solidFill>
                <a:latin typeface="Times New Roman"/>
                <a:cs typeface="Times New Roman"/>
              </a:rPr>
              <a:t>Lab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574040" y="609888"/>
            <a:ext cx="5293360" cy="32124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ko-KR" altLang="en-US" dirty="0">
                <a:latin typeface="Times New Roman"/>
                <a:cs typeface="Times New Roman"/>
              </a:rPr>
              <a:t>시스템 구성도</a:t>
            </a:r>
            <a:endParaRPr i="1" dirty="0">
              <a:solidFill>
                <a:srgbClr val="FF0000"/>
              </a:solidFill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574040" y="1124817"/>
            <a:ext cx="8874760" cy="32124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99085" indent="-287020">
              <a:lnSpc>
                <a:spcPct val="100000"/>
              </a:lnSpc>
              <a:spcBef>
                <a:spcPts val="105"/>
              </a:spcBef>
              <a:buFont typeface="Wingdings"/>
              <a:buChar char=""/>
              <a:tabLst>
                <a:tab pos="299720" algn="l"/>
              </a:tabLst>
            </a:pPr>
            <a:r>
              <a:rPr lang="ko-KR" altLang="en-US" sz="2000" spc="-5" dirty="0">
                <a:solidFill>
                  <a:srgbClr val="558ED5"/>
                </a:solidFill>
                <a:latin typeface="+mn-ea"/>
                <a:cs typeface="Malgun Gothic"/>
              </a:rPr>
              <a:t>시스템 구성도</a:t>
            </a:r>
            <a:endParaRPr sz="2000" dirty="0">
              <a:latin typeface="+mn-ea"/>
              <a:cs typeface="Malgun Gothic"/>
            </a:endParaRPr>
          </a:p>
        </p:txBody>
      </p:sp>
      <p:pic>
        <p:nvPicPr>
          <p:cNvPr id="22" name="Picture 12" descr="D:\Daum_Cloud\DaumCloud\20131220_스마트 협업테이블\01. Images\DL380G7.png">
            <a:extLst>
              <a:ext uri="{FF2B5EF4-FFF2-40B4-BE49-F238E27FC236}">
                <a16:creationId xmlns:a16="http://schemas.microsoft.com/office/drawing/2014/main" id="{0F63D4D9-953B-2D1F-BFAF-1B1E31D2E3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67951" y="4720803"/>
            <a:ext cx="1280543" cy="6247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9535AF7C-5A98-242D-DB01-7C8B35B6A2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8653" y="3666899"/>
            <a:ext cx="522801" cy="46355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9DDEE88C-C676-BE47-3735-11C43C5A129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53238" y="4082001"/>
            <a:ext cx="870999" cy="870999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3C631D6F-1A75-37D5-AD9C-77A50F1EF4B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22569" y="2671424"/>
            <a:ext cx="971309" cy="647540"/>
          </a:xfrm>
          <a:prstGeom prst="rect">
            <a:avLst/>
          </a:prstGeom>
        </p:spPr>
      </p:pic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43E3AD6F-2BEC-050F-6ABD-67996DB94D9B}"/>
              </a:ext>
            </a:extLst>
          </p:cNvPr>
          <p:cNvSpPr/>
          <p:nvPr/>
        </p:nvSpPr>
        <p:spPr>
          <a:xfrm>
            <a:off x="2061309" y="3192267"/>
            <a:ext cx="1257632" cy="52985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ore-KR" sz="1100" dirty="0"/>
              <a:t>Change Detection</a:t>
            </a:r>
            <a:endParaRPr kumimoji="1" lang="ko-Kore-KR" altLang="en-US" sz="1100" dirty="0"/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60186F94-C34A-B6E9-3EE6-4D66A3B4FDC6}"/>
              </a:ext>
            </a:extLst>
          </p:cNvPr>
          <p:cNvSpPr/>
          <p:nvPr/>
        </p:nvSpPr>
        <p:spPr>
          <a:xfrm>
            <a:off x="4031778" y="3395570"/>
            <a:ext cx="1368449" cy="785575"/>
          </a:xfrm>
          <a:prstGeom prst="round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ore-KR" sz="1100" dirty="0"/>
              <a:t>Intruder Detection</a:t>
            </a:r>
          </a:p>
          <a:p>
            <a:pPr algn="ctr"/>
            <a:r>
              <a:rPr kumimoji="1" lang="en-US" altLang="ko-Kore-KR" sz="1100" dirty="0"/>
              <a:t>(Django blog)</a:t>
            </a:r>
            <a:endParaRPr kumimoji="1" lang="ko-Kore-KR" altLang="en-US" sz="1100" dirty="0"/>
          </a:p>
        </p:txBody>
      </p:sp>
      <p:pic>
        <p:nvPicPr>
          <p:cNvPr id="26" name="Picture 13" descr="D:\Daum_Cloud\DaumCloud\20131220_스마트 협업테이블\01. Images\Database_3.png">
            <a:extLst>
              <a:ext uri="{FF2B5EF4-FFF2-40B4-BE49-F238E27FC236}">
                <a16:creationId xmlns:a16="http://schemas.microsoft.com/office/drawing/2014/main" id="{962EA651-522D-9C86-C725-0861A92F5C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97006" y="4181145"/>
            <a:ext cx="594672" cy="6727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" name="그림 26">
            <a:extLst>
              <a:ext uri="{FF2B5EF4-FFF2-40B4-BE49-F238E27FC236}">
                <a16:creationId xmlns:a16="http://schemas.microsoft.com/office/drawing/2014/main" id="{3D4EF574-AFE5-2436-6726-206CFC668EB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82126" y="2671607"/>
            <a:ext cx="971309" cy="543326"/>
          </a:xfrm>
          <a:prstGeom prst="rect">
            <a:avLst/>
          </a:prstGeom>
        </p:spPr>
      </p:pic>
      <p:cxnSp>
        <p:nvCxnSpPr>
          <p:cNvPr id="34" name="꺾인 연결선[E] 33">
            <a:extLst>
              <a:ext uri="{FF2B5EF4-FFF2-40B4-BE49-F238E27FC236}">
                <a16:creationId xmlns:a16="http://schemas.microsoft.com/office/drawing/2014/main" id="{9D1B64E9-B351-4B43-551D-F8B8F5CB930C}"/>
              </a:ext>
            </a:extLst>
          </p:cNvPr>
          <p:cNvCxnSpPr>
            <a:cxnSpLocks/>
            <a:stCxn id="24" idx="0"/>
            <a:endCxn id="9" idx="1"/>
          </p:cNvCxnSpPr>
          <p:nvPr/>
        </p:nvCxnSpPr>
        <p:spPr>
          <a:xfrm rot="5400000" flipH="1" flipV="1">
            <a:off x="3357811" y="2327509"/>
            <a:ext cx="197073" cy="153244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꺾인 연결선[E] 41">
            <a:extLst>
              <a:ext uri="{FF2B5EF4-FFF2-40B4-BE49-F238E27FC236}">
                <a16:creationId xmlns:a16="http://schemas.microsoft.com/office/drawing/2014/main" id="{B9B71CDA-9F6E-482A-5587-BB85509175DE}"/>
              </a:ext>
            </a:extLst>
          </p:cNvPr>
          <p:cNvCxnSpPr>
            <a:cxnSpLocks/>
            <a:stCxn id="7" idx="3"/>
            <a:endCxn id="26" idx="1"/>
          </p:cNvCxnSpPr>
          <p:nvPr/>
        </p:nvCxnSpPr>
        <p:spPr>
          <a:xfrm flipV="1">
            <a:off x="5124237" y="4517500"/>
            <a:ext cx="372769" cy="1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7" name="그림 46">
            <a:extLst>
              <a:ext uri="{FF2B5EF4-FFF2-40B4-BE49-F238E27FC236}">
                <a16:creationId xmlns:a16="http://schemas.microsoft.com/office/drawing/2014/main" id="{91AC4C0C-D37A-9B30-37F3-932EFFED370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75901" y="3680774"/>
            <a:ext cx="431435" cy="414626"/>
          </a:xfrm>
          <a:prstGeom prst="rect">
            <a:avLst/>
          </a:prstGeom>
        </p:spPr>
      </p:pic>
      <p:pic>
        <p:nvPicPr>
          <p:cNvPr id="48" name="그림 47">
            <a:extLst>
              <a:ext uri="{FF2B5EF4-FFF2-40B4-BE49-F238E27FC236}">
                <a16:creationId xmlns:a16="http://schemas.microsoft.com/office/drawing/2014/main" id="{DAB7DE51-8636-F122-B35E-DF97F1590EE9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315200" y="4119079"/>
            <a:ext cx="552835" cy="414626"/>
          </a:xfrm>
          <a:prstGeom prst="rect">
            <a:avLst/>
          </a:prstGeom>
        </p:spPr>
      </p:pic>
      <p:pic>
        <p:nvPicPr>
          <p:cNvPr id="49" name="그림 48">
            <a:extLst>
              <a:ext uri="{FF2B5EF4-FFF2-40B4-BE49-F238E27FC236}">
                <a16:creationId xmlns:a16="http://schemas.microsoft.com/office/drawing/2014/main" id="{D3796987-A85F-E381-8EB8-DE0569E371B0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394661" y="3223161"/>
            <a:ext cx="395673" cy="414627"/>
          </a:xfrm>
          <a:prstGeom prst="rect">
            <a:avLst/>
          </a:prstGeom>
        </p:spPr>
      </p:pic>
      <p:pic>
        <p:nvPicPr>
          <p:cNvPr id="50" name="그림 49">
            <a:extLst>
              <a:ext uri="{FF2B5EF4-FFF2-40B4-BE49-F238E27FC236}">
                <a16:creationId xmlns:a16="http://schemas.microsoft.com/office/drawing/2014/main" id="{036151BF-7ED6-0715-36B9-4A83291C8710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369717" y="2785772"/>
            <a:ext cx="421175" cy="414628"/>
          </a:xfrm>
          <a:prstGeom prst="rect">
            <a:avLst/>
          </a:prstGeom>
        </p:spPr>
      </p:pic>
      <p:pic>
        <p:nvPicPr>
          <p:cNvPr id="51" name="그림 50">
            <a:extLst>
              <a:ext uri="{FF2B5EF4-FFF2-40B4-BE49-F238E27FC236}">
                <a16:creationId xmlns:a16="http://schemas.microsoft.com/office/drawing/2014/main" id="{3008D9B9-9672-F9F7-B1C9-CE4987F78CE9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606804" y="3223161"/>
            <a:ext cx="660400" cy="660400"/>
          </a:xfrm>
          <a:prstGeom prst="rect">
            <a:avLst/>
          </a:prstGeom>
        </p:spPr>
      </p:pic>
      <p:cxnSp>
        <p:nvCxnSpPr>
          <p:cNvPr id="52" name="꺾인 연결선[E] 51">
            <a:extLst>
              <a:ext uri="{FF2B5EF4-FFF2-40B4-BE49-F238E27FC236}">
                <a16:creationId xmlns:a16="http://schemas.microsoft.com/office/drawing/2014/main" id="{ABCD8ECB-282A-6335-0B2A-8E0A1E5F558C}"/>
              </a:ext>
            </a:extLst>
          </p:cNvPr>
          <p:cNvCxnSpPr>
            <a:cxnSpLocks/>
            <a:stCxn id="9" idx="3"/>
            <a:endCxn id="50" idx="1"/>
          </p:cNvCxnSpPr>
          <p:nvPr/>
        </p:nvCxnSpPr>
        <p:spPr>
          <a:xfrm flipV="1">
            <a:off x="5193878" y="2993086"/>
            <a:ext cx="2175839" cy="2108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3FA01F47-3330-C635-0239-9C3660364D09}"/>
              </a:ext>
            </a:extLst>
          </p:cNvPr>
          <p:cNvSpPr txBox="1"/>
          <p:nvPr/>
        </p:nvSpPr>
        <p:spPr>
          <a:xfrm>
            <a:off x="2729982" y="2702939"/>
            <a:ext cx="123860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1200" dirty="0"/>
              <a:t>HTTP/Restful</a:t>
            </a:r>
            <a:r>
              <a:rPr kumimoji="1" lang="ko-KR" altLang="en-US" sz="1200" dirty="0"/>
              <a:t> </a:t>
            </a:r>
            <a:r>
              <a:rPr kumimoji="1" lang="en-US" altLang="ko-KR" sz="1200" dirty="0"/>
              <a:t>API</a:t>
            </a:r>
            <a:endParaRPr kumimoji="1" lang="ko-Kore-KR" altLang="en-US" sz="1200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027E028-B68C-DDC5-6C75-D317B32B0A67}"/>
              </a:ext>
            </a:extLst>
          </p:cNvPr>
          <p:cNvSpPr txBox="1"/>
          <p:nvPr/>
        </p:nvSpPr>
        <p:spPr>
          <a:xfrm>
            <a:off x="5429805" y="2702938"/>
            <a:ext cx="51379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1200" dirty="0"/>
              <a:t>HTTP</a:t>
            </a:r>
            <a:endParaRPr kumimoji="1" lang="ko-Kore-KR" altLang="en-US" sz="1200" dirty="0"/>
          </a:p>
        </p:txBody>
      </p: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8EEF8602-A224-866A-BC31-E8089D5E3524}"/>
              </a:ext>
            </a:extLst>
          </p:cNvPr>
          <p:cNvCxnSpPr>
            <a:cxnSpLocks/>
            <a:stCxn id="25" idx="0"/>
          </p:cNvCxnSpPr>
          <p:nvPr/>
        </p:nvCxnSpPr>
        <p:spPr>
          <a:xfrm flipV="1">
            <a:off x="4716003" y="3086086"/>
            <a:ext cx="0" cy="30948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D51CDFA6-6AA4-2B01-173B-46645D590930}"/>
              </a:ext>
            </a:extLst>
          </p:cNvPr>
          <p:cNvSpPr txBox="1"/>
          <p:nvPr/>
        </p:nvSpPr>
        <p:spPr>
          <a:xfrm>
            <a:off x="4724400" y="3124200"/>
            <a:ext cx="51379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1200" dirty="0"/>
              <a:t>HTTP</a:t>
            </a:r>
            <a:endParaRPr kumimoji="1" lang="ko-Kore-KR" altLang="en-US" sz="1200" dirty="0"/>
          </a:p>
        </p:txBody>
      </p:sp>
      <p:sp>
        <p:nvSpPr>
          <p:cNvPr id="65" name="모서리가 둥근 직사각형 64">
            <a:extLst>
              <a:ext uri="{FF2B5EF4-FFF2-40B4-BE49-F238E27FC236}">
                <a16:creationId xmlns:a16="http://schemas.microsoft.com/office/drawing/2014/main" id="{F5EA3C39-7B5D-6748-BB13-44D60AC654A3}"/>
              </a:ext>
            </a:extLst>
          </p:cNvPr>
          <p:cNvSpPr/>
          <p:nvPr/>
        </p:nvSpPr>
        <p:spPr>
          <a:xfrm>
            <a:off x="4253616" y="4054333"/>
            <a:ext cx="940262" cy="21286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ore-KR" sz="1000" dirty="0"/>
              <a:t> Image blog</a:t>
            </a:r>
            <a:endParaRPr kumimoji="1" lang="ko-Kore-KR" altLang="en-US" sz="1000" dirty="0"/>
          </a:p>
        </p:txBody>
      </p:sp>
      <p:sp>
        <p:nvSpPr>
          <p:cNvPr id="66" name="모서리가 둥근 직사각형 65">
            <a:extLst>
              <a:ext uri="{FF2B5EF4-FFF2-40B4-BE49-F238E27FC236}">
                <a16:creationId xmlns:a16="http://schemas.microsoft.com/office/drawing/2014/main" id="{A2A46386-DA7C-81F2-1F2E-3C2FFD0D31EB}"/>
              </a:ext>
            </a:extLst>
          </p:cNvPr>
          <p:cNvSpPr/>
          <p:nvPr/>
        </p:nvSpPr>
        <p:spPr>
          <a:xfrm>
            <a:off x="4031778" y="3402836"/>
            <a:ext cx="692622" cy="21286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ore-KR" sz="1000" dirty="0"/>
              <a:t> REST API</a:t>
            </a:r>
            <a:endParaRPr kumimoji="1" lang="ko-Kore-KR" altLang="en-US" sz="10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7F7F2CF-5152-F03B-CCDD-A01F95E9695B}"/>
              </a:ext>
            </a:extLst>
          </p:cNvPr>
          <p:cNvSpPr txBox="1"/>
          <p:nvPr/>
        </p:nvSpPr>
        <p:spPr>
          <a:xfrm>
            <a:off x="3856074" y="3152001"/>
            <a:ext cx="87043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1200" dirty="0"/>
              <a:t>PORT:8000</a:t>
            </a:r>
            <a:endParaRPr kumimoji="1" lang="ko-Kore-KR" altLang="en-US" sz="120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254C7AC-6818-E540-E402-89B1617ED852}"/>
              </a:ext>
            </a:extLst>
          </p:cNvPr>
          <p:cNvSpPr txBox="1"/>
          <p:nvPr/>
        </p:nvSpPr>
        <p:spPr>
          <a:xfrm>
            <a:off x="4572000" y="2694801"/>
            <a:ext cx="87043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1200" dirty="0"/>
              <a:t>PORT:8080</a:t>
            </a:r>
            <a:endParaRPr kumimoji="1" lang="ko-Kore-KR" altLang="en-US" sz="12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A2D9E07-B252-368F-6CC7-299C67EC932D}"/>
              </a:ext>
            </a:extLst>
          </p:cNvPr>
          <p:cNvSpPr txBox="1"/>
          <p:nvPr/>
        </p:nvSpPr>
        <p:spPr>
          <a:xfrm>
            <a:off x="1903368" y="5377056"/>
            <a:ext cx="157850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ore-KR" sz="1200" dirty="0"/>
              <a:t>&lt;EDGE SYSTEM&gt;</a:t>
            </a:r>
            <a:endParaRPr kumimoji="1" lang="ko-Kore-KR" altLang="en-US" sz="1200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F3C3EBE-3F71-2BF4-18BE-D4502915FCFA}"/>
              </a:ext>
            </a:extLst>
          </p:cNvPr>
          <p:cNvSpPr txBox="1"/>
          <p:nvPr/>
        </p:nvSpPr>
        <p:spPr>
          <a:xfrm>
            <a:off x="6800813" y="5334000"/>
            <a:ext cx="21483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ore-KR" sz="1200" dirty="0"/>
              <a:t>&lt;CLIENT&gt;</a:t>
            </a:r>
            <a:endParaRPr kumimoji="1" lang="ko-Kore-KR" altLang="en-US" sz="1200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61838BDA-9BCA-D027-CC4E-8EEB92208651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364586" y="4589324"/>
            <a:ext cx="431435" cy="439876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7827456F-4861-74AE-96C0-B533B83ABB09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201100" y="6115018"/>
            <a:ext cx="715339" cy="357670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B692E289-E0B5-EAE3-9D1B-CDBDB0A7DFDF}"/>
              </a:ext>
            </a:extLst>
          </p:cNvPr>
          <p:cNvSpPr txBox="1"/>
          <p:nvPr/>
        </p:nvSpPr>
        <p:spPr>
          <a:xfrm>
            <a:off x="3960572" y="5334000"/>
            <a:ext cx="21483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ore-KR" sz="1200" dirty="0"/>
              <a:t>&lt;SERVICE SYSTEM&gt;</a:t>
            </a:r>
            <a:endParaRPr kumimoji="1" lang="ko-Kore-KR" altLang="en-US" sz="1200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99D098B0-3694-0AD9-B92B-07FFF61854EF}"/>
              </a:ext>
            </a:extLst>
          </p:cNvPr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17"/>
              </a:ext>
            </a:extLst>
          </a:blip>
          <a:stretch>
            <a:fillRect/>
          </a:stretch>
        </p:blipFill>
        <p:spPr>
          <a:xfrm>
            <a:off x="7956251" y="2785225"/>
            <a:ext cx="431436" cy="169698"/>
          </a:xfrm>
          <a:prstGeom prst="rect">
            <a:avLst/>
          </a:prstGeom>
        </p:spPr>
      </p:pic>
      <p:cxnSp>
        <p:nvCxnSpPr>
          <p:cNvPr id="20" name="직선 화살표 연결선 11">
            <a:extLst>
              <a:ext uri="{FF2B5EF4-FFF2-40B4-BE49-F238E27FC236}">
                <a16:creationId xmlns:a16="http://schemas.microsoft.com/office/drawing/2014/main" id="{1217804E-4D0C-C430-4348-059D4F78A1FF}"/>
              </a:ext>
            </a:extLst>
          </p:cNvPr>
          <p:cNvCxnSpPr>
            <a:cxnSpLocks/>
            <a:stCxn id="14" idx="3"/>
          </p:cNvCxnSpPr>
          <p:nvPr/>
        </p:nvCxnSpPr>
        <p:spPr>
          <a:xfrm flipV="1">
            <a:off x="8387687" y="2237705"/>
            <a:ext cx="351434" cy="6323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object 4">
            <a:extLst>
              <a:ext uri="{FF2B5EF4-FFF2-40B4-BE49-F238E27FC236}">
                <a16:creationId xmlns:a16="http://schemas.microsoft.com/office/drawing/2014/main" id="{1CBFCBAB-033E-815A-B006-E5D914AB0AC3}"/>
              </a:ext>
            </a:extLst>
          </p:cNvPr>
          <p:cNvSpPr txBox="1"/>
          <p:nvPr/>
        </p:nvSpPr>
        <p:spPr>
          <a:xfrm>
            <a:off x="6649558" y="2011646"/>
            <a:ext cx="3104042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065">
              <a:lnSpc>
                <a:spcPct val="100000"/>
              </a:lnSpc>
              <a:spcBef>
                <a:spcPts val="105"/>
              </a:spcBef>
              <a:tabLst>
                <a:tab pos="299720" algn="l"/>
              </a:tabLst>
            </a:pPr>
            <a:r>
              <a:rPr lang="en-US" sz="1400" dirty="0">
                <a:latin typeface="+mn-ea"/>
                <a:cs typeface="Malgun Gothic"/>
              </a:rPr>
              <a:t>Filter blog posts: human detection only</a:t>
            </a:r>
            <a:endParaRPr sz="1400" dirty="0">
              <a:latin typeface="+mn-ea"/>
              <a:cs typeface="Malgun Gothic"/>
            </a:endParaRPr>
          </a:p>
        </p:txBody>
      </p:sp>
      <p:sp>
        <p:nvSpPr>
          <p:cNvPr id="41" name="object 4">
            <a:extLst>
              <a:ext uri="{FF2B5EF4-FFF2-40B4-BE49-F238E27FC236}">
                <a16:creationId xmlns:a16="http://schemas.microsoft.com/office/drawing/2014/main" id="{5A3D9433-7474-C79B-4C56-FE1A54A74CE7}"/>
              </a:ext>
            </a:extLst>
          </p:cNvPr>
          <p:cNvSpPr txBox="1"/>
          <p:nvPr/>
        </p:nvSpPr>
        <p:spPr>
          <a:xfrm>
            <a:off x="7983172" y="2775916"/>
            <a:ext cx="1111173" cy="167354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065">
              <a:lnSpc>
                <a:spcPct val="100000"/>
              </a:lnSpc>
              <a:spcBef>
                <a:spcPts val="105"/>
              </a:spcBef>
              <a:tabLst>
                <a:tab pos="299720" algn="l"/>
              </a:tabLst>
            </a:pPr>
            <a:r>
              <a:rPr lang="en-US" sz="1000" dirty="0">
                <a:latin typeface="+mn-ea"/>
                <a:cs typeface="Malgun Gothic"/>
              </a:rPr>
              <a:t>button</a:t>
            </a:r>
            <a:endParaRPr sz="1400" dirty="0">
              <a:latin typeface="+mn-ea"/>
              <a:cs typeface="Malgun Gothic"/>
            </a:endParaRPr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C8E4F773-3B5B-85F2-CD5A-86702DBE09A8}"/>
              </a:ext>
            </a:extLst>
          </p:cNvPr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1652" y="3460652"/>
            <a:ext cx="1648020" cy="1648020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A424E271-6665-5F41-7DAD-DE491889775C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928912" y="5126178"/>
            <a:ext cx="797854" cy="235616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30307A8A-A117-F084-4D3B-B664B3E9CE16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145615" y="4729802"/>
            <a:ext cx="1047750" cy="327192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9C825158-FCC8-6ED3-0E4D-AA17A3C34D60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824080" y="5275116"/>
            <a:ext cx="609600" cy="162878"/>
          </a:xfrm>
          <a:prstGeom prst="rect">
            <a:avLst/>
          </a:prstGeom>
        </p:spPr>
      </p:pic>
      <p:cxnSp>
        <p:nvCxnSpPr>
          <p:cNvPr id="58" name="직선 화살표 연결선 11">
            <a:extLst>
              <a:ext uri="{FF2B5EF4-FFF2-40B4-BE49-F238E27FC236}">
                <a16:creationId xmlns:a16="http://schemas.microsoft.com/office/drawing/2014/main" id="{E971C2FE-EA34-8356-C189-FD466664AFF3}"/>
              </a:ext>
            </a:extLst>
          </p:cNvPr>
          <p:cNvCxnSpPr>
            <a:cxnSpLocks/>
            <a:stCxn id="5" idx="3"/>
          </p:cNvCxnSpPr>
          <p:nvPr/>
        </p:nvCxnSpPr>
        <p:spPr>
          <a:xfrm>
            <a:off x="1851454" y="3898674"/>
            <a:ext cx="773562" cy="2824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object 4">
            <a:extLst>
              <a:ext uri="{FF2B5EF4-FFF2-40B4-BE49-F238E27FC236}">
                <a16:creationId xmlns:a16="http://schemas.microsoft.com/office/drawing/2014/main" id="{0E368405-4FB9-5BBC-FB46-32D4863C1544}"/>
              </a:ext>
            </a:extLst>
          </p:cNvPr>
          <p:cNvSpPr txBox="1"/>
          <p:nvPr/>
        </p:nvSpPr>
        <p:spPr>
          <a:xfrm>
            <a:off x="107208" y="3256016"/>
            <a:ext cx="2088118" cy="395621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065">
              <a:lnSpc>
                <a:spcPct val="100000"/>
              </a:lnSpc>
              <a:spcBef>
                <a:spcPts val="105"/>
              </a:spcBef>
              <a:tabLst>
                <a:tab pos="299720" algn="l"/>
              </a:tabLst>
            </a:pPr>
            <a:r>
              <a:rPr lang="en-US" sz="1200" dirty="0">
                <a:latin typeface="+mn-ea"/>
                <a:cs typeface="Malgun Gothic"/>
              </a:rPr>
              <a:t>Detects object at the front</a:t>
            </a:r>
          </a:p>
          <a:p>
            <a:pPr marL="12065">
              <a:lnSpc>
                <a:spcPct val="100000"/>
              </a:lnSpc>
              <a:spcBef>
                <a:spcPts val="105"/>
              </a:spcBef>
              <a:tabLst>
                <a:tab pos="299720" algn="l"/>
              </a:tabLst>
            </a:pPr>
            <a:r>
              <a:rPr lang="en-US" sz="1200" dirty="0">
                <a:latin typeface="+mn-ea"/>
                <a:cs typeface="Malgun Gothic"/>
              </a:rPr>
              <a:t>door 24 hours a day</a:t>
            </a:r>
            <a:endParaRPr sz="1200" dirty="0">
              <a:latin typeface="+mn-ea"/>
              <a:cs typeface="Malgun Gothic"/>
            </a:endParaRPr>
          </a:p>
        </p:txBody>
      </p:sp>
    </p:spTree>
    <p:extLst>
      <p:ext uri="{BB962C8B-B14F-4D97-AF65-F5344CB8AC3E}">
        <p14:creationId xmlns:p14="http://schemas.microsoft.com/office/powerpoint/2010/main" val="15501946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208504" y="6486875"/>
            <a:ext cx="1705610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b="1" dirty="0">
                <a:solidFill>
                  <a:srgbClr val="1F497D"/>
                </a:solidFill>
                <a:latin typeface="Times New Roman"/>
                <a:cs typeface="Times New Roman"/>
              </a:rPr>
              <a:t>Image </a:t>
            </a:r>
            <a:r>
              <a:rPr sz="1400" b="1" spc="-5" dirty="0">
                <a:solidFill>
                  <a:srgbClr val="1F497D"/>
                </a:solidFill>
                <a:latin typeface="Times New Roman"/>
                <a:cs typeface="Times New Roman"/>
              </a:rPr>
              <a:t>Processing</a:t>
            </a:r>
            <a:r>
              <a:rPr sz="1400" b="1" spc="-70" dirty="0">
                <a:solidFill>
                  <a:srgbClr val="1F497D"/>
                </a:solidFill>
                <a:latin typeface="Times New Roman"/>
                <a:cs typeface="Times New Roman"/>
              </a:rPr>
              <a:t> </a:t>
            </a:r>
            <a:r>
              <a:rPr sz="1400" b="1" dirty="0">
                <a:solidFill>
                  <a:srgbClr val="1F497D"/>
                </a:solidFill>
                <a:latin typeface="Times New Roman"/>
                <a:cs typeface="Times New Roman"/>
              </a:rPr>
              <a:t>Lab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574040" y="609888"/>
            <a:ext cx="1090930" cy="3308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ko-KR" altLang="en-US" dirty="0">
                <a:latin typeface="Times New Roman"/>
                <a:cs typeface="Times New Roman"/>
              </a:rPr>
              <a:t>목적</a:t>
            </a:r>
            <a:endParaRPr dirty="0"/>
          </a:p>
        </p:txBody>
      </p:sp>
      <p:sp>
        <p:nvSpPr>
          <p:cNvPr id="4" name="object 4"/>
          <p:cNvSpPr txBox="1"/>
          <p:nvPr/>
        </p:nvSpPr>
        <p:spPr>
          <a:xfrm>
            <a:off x="574040" y="1124817"/>
            <a:ext cx="8265160" cy="1603644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99085" indent="-287020">
              <a:lnSpc>
                <a:spcPct val="100000"/>
              </a:lnSpc>
              <a:spcBef>
                <a:spcPts val="105"/>
              </a:spcBef>
              <a:buFont typeface="Wingdings"/>
              <a:buChar char=""/>
              <a:tabLst>
                <a:tab pos="299720" algn="l"/>
              </a:tabLst>
            </a:pPr>
            <a:r>
              <a:rPr lang="en-US" sz="2000" spc="-5" dirty="0">
                <a:solidFill>
                  <a:srgbClr val="558ED5"/>
                </a:solidFill>
                <a:latin typeface="+mn-ea"/>
                <a:cs typeface="Malgun Gothic"/>
              </a:rPr>
              <a:t>This project aims to:</a:t>
            </a:r>
          </a:p>
          <a:p>
            <a:pPr marL="812165" lvl="1" indent="-342900">
              <a:spcBef>
                <a:spcPts val="105"/>
              </a:spcBef>
              <a:buFont typeface="Arial" panose="020B0604020202020204" pitchFamily="34" charset="0"/>
              <a:buChar char="•"/>
              <a:tabLst>
                <a:tab pos="299720" algn="l"/>
              </a:tabLst>
            </a:pPr>
            <a:r>
              <a:rPr lang="en-US" sz="2000" spc="-5" dirty="0">
                <a:solidFill>
                  <a:srgbClr val="558ED5"/>
                </a:solidFill>
                <a:latin typeface="+mn-ea"/>
                <a:cs typeface="Malgun Gothic"/>
              </a:rPr>
              <a:t>Report any possible human danger</a:t>
            </a:r>
          </a:p>
          <a:p>
            <a:pPr marL="812165" lvl="1" indent="-342900">
              <a:spcBef>
                <a:spcPts val="105"/>
              </a:spcBef>
              <a:buFont typeface="Arial" panose="020B0604020202020204" pitchFamily="34" charset="0"/>
              <a:buChar char="•"/>
              <a:tabLst>
                <a:tab pos="299720" algn="l"/>
              </a:tabLst>
            </a:pPr>
            <a:r>
              <a:rPr lang="en-US" sz="2000" spc="-5" dirty="0">
                <a:solidFill>
                  <a:srgbClr val="558ED5"/>
                </a:solidFill>
                <a:latin typeface="+mn-ea"/>
                <a:cs typeface="Malgun Gothic"/>
              </a:rPr>
              <a:t>Protect user’s safety</a:t>
            </a:r>
          </a:p>
          <a:p>
            <a:pPr marL="812165" lvl="1" indent="-342900">
              <a:spcBef>
                <a:spcPts val="105"/>
              </a:spcBef>
              <a:buFont typeface="Arial" panose="020B0604020202020204" pitchFamily="34" charset="0"/>
              <a:buChar char="•"/>
              <a:tabLst>
                <a:tab pos="299720" algn="l"/>
              </a:tabLst>
            </a:pPr>
            <a:r>
              <a:rPr lang="en-US" sz="2000" spc="-5" dirty="0">
                <a:solidFill>
                  <a:srgbClr val="558ED5"/>
                </a:solidFill>
                <a:latin typeface="+mn-ea"/>
                <a:cs typeface="Malgun Gothic"/>
              </a:rPr>
              <a:t>Ensure user’s convenience at home</a:t>
            </a:r>
          </a:p>
          <a:p>
            <a:pPr marL="812165" lvl="1" indent="-342900">
              <a:spcBef>
                <a:spcPts val="105"/>
              </a:spcBef>
              <a:buFont typeface="Arial" panose="020B0604020202020204" pitchFamily="34" charset="0"/>
              <a:buChar char="•"/>
              <a:tabLst>
                <a:tab pos="299720" algn="l"/>
              </a:tabLst>
            </a:pPr>
            <a:endParaRPr sz="2000" dirty="0">
              <a:latin typeface="+mn-ea"/>
              <a:cs typeface="Malgun Gothic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208504" y="6486875"/>
            <a:ext cx="1705610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b="1" dirty="0">
                <a:solidFill>
                  <a:srgbClr val="1F497D"/>
                </a:solidFill>
                <a:latin typeface="Times New Roman"/>
                <a:cs typeface="Times New Roman"/>
              </a:rPr>
              <a:t>Image </a:t>
            </a:r>
            <a:r>
              <a:rPr sz="1400" b="1" spc="-5" dirty="0">
                <a:solidFill>
                  <a:srgbClr val="1F497D"/>
                </a:solidFill>
                <a:latin typeface="Times New Roman"/>
                <a:cs typeface="Times New Roman"/>
              </a:rPr>
              <a:t>Processing</a:t>
            </a:r>
            <a:r>
              <a:rPr sz="1400" b="1" spc="-70" dirty="0">
                <a:solidFill>
                  <a:srgbClr val="1F497D"/>
                </a:solidFill>
                <a:latin typeface="Times New Roman"/>
                <a:cs typeface="Times New Roman"/>
              </a:rPr>
              <a:t> </a:t>
            </a:r>
            <a:r>
              <a:rPr sz="1400" b="1" dirty="0">
                <a:solidFill>
                  <a:srgbClr val="1F497D"/>
                </a:solidFill>
                <a:latin typeface="Times New Roman"/>
                <a:cs typeface="Times New Roman"/>
              </a:rPr>
              <a:t>Lab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574040" y="609888"/>
            <a:ext cx="1090930" cy="3308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ko-KR" altLang="en-US" sz="2000" dirty="0"/>
              <a:t>필요성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005166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208504" y="6486875"/>
            <a:ext cx="1705610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b="1" dirty="0">
                <a:solidFill>
                  <a:srgbClr val="1F497D"/>
                </a:solidFill>
                <a:latin typeface="Times New Roman"/>
                <a:cs typeface="Times New Roman"/>
              </a:rPr>
              <a:t>Image </a:t>
            </a:r>
            <a:r>
              <a:rPr sz="1400" b="1" spc="-5" dirty="0">
                <a:solidFill>
                  <a:srgbClr val="1F497D"/>
                </a:solidFill>
                <a:latin typeface="Times New Roman"/>
                <a:cs typeface="Times New Roman"/>
              </a:rPr>
              <a:t>Processing</a:t>
            </a:r>
            <a:r>
              <a:rPr sz="1400" b="1" spc="-70" dirty="0">
                <a:solidFill>
                  <a:srgbClr val="1F497D"/>
                </a:solidFill>
                <a:latin typeface="Times New Roman"/>
                <a:cs typeface="Times New Roman"/>
              </a:rPr>
              <a:t> </a:t>
            </a:r>
            <a:r>
              <a:rPr sz="1400" b="1" dirty="0">
                <a:solidFill>
                  <a:srgbClr val="1F497D"/>
                </a:solidFill>
                <a:latin typeface="Times New Roman"/>
                <a:cs typeface="Times New Roman"/>
              </a:rPr>
              <a:t>Lab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574040" y="609888"/>
            <a:ext cx="6817360" cy="32124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spcBef>
                <a:spcPts val="105"/>
              </a:spcBef>
            </a:pPr>
            <a:r>
              <a:rPr lang="ko-KR" altLang="en-US" sz="2000" dirty="0"/>
              <a:t>기능 </a:t>
            </a:r>
            <a:r>
              <a:rPr lang="en-US" altLang="ko-KR" sz="2000" dirty="0"/>
              <a:t>-</a:t>
            </a:r>
            <a:r>
              <a:rPr lang="ko-KR" altLang="en-US" sz="2000" dirty="0"/>
              <a:t> </a:t>
            </a:r>
            <a:r>
              <a:rPr lang="ko-KR" altLang="en-US" sz="2000" dirty="0">
                <a:solidFill>
                  <a:schemeClr val="accent1"/>
                </a:solidFill>
              </a:rPr>
              <a:t>조건대비표</a:t>
            </a:r>
            <a:endParaRPr dirty="0">
              <a:solidFill>
                <a:schemeClr val="accent1"/>
              </a:solidFill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138D92DE-3313-341A-7253-A23793A03C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2618417"/>
              </p:ext>
            </p:extLst>
          </p:nvPr>
        </p:nvGraphicFramePr>
        <p:xfrm>
          <a:off x="457200" y="1219200"/>
          <a:ext cx="8991600" cy="435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90600">
                  <a:extLst>
                    <a:ext uri="{9D8B030D-6E8A-4147-A177-3AD203B41FA5}">
                      <a16:colId xmlns:a16="http://schemas.microsoft.com/office/drawing/2014/main" val="1260587217"/>
                    </a:ext>
                  </a:extLst>
                </a:gridCol>
                <a:gridCol w="3962400">
                  <a:extLst>
                    <a:ext uri="{9D8B030D-6E8A-4147-A177-3AD203B41FA5}">
                      <a16:colId xmlns:a16="http://schemas.microsoft.com/office/drawing/2014/main" val="2052591181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1997852941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1246177164"/>
                    </a:ext>
                  </a:extLst>
                </a:gridCol>
                <a:gridCol w="3124200">
                  <a:extLst>
                    <a:ext uri="{9D8B030D-6E8A-4147-A177-3AD203B41FA5}">
                      <a16:colId xmlns:a16="http://schemas.microsoft.com/office/drawing/2014/main" val="255837516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시스템 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세부기능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구현 여부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대체 여부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소스 파일명 </a:t>
                      </a:r>
                      <a:endParaRPr lang="en-US" altLang="ko-KR" sz="1000" dirty="0"/>
                    </a:p>
                    <a:p>
                      <a:pPr algn="ctr" latinLnBrk="1"/>
                      <a:r>
                        <a:rPr lang="en-US" altLang="ko-KR" sz="1000" dirty="0"/>
                        <a:t>(</a:t>
                      </a:r>
                      <a:r>
                        <a:rPr lang="ko-KR" altLang="en-US" sz="1000" dirty="0"/>
                        <a:t>함수 또는 </a:t>
                      </a:r>
                      <a:r>
                        <a:rPr lang="en-US" altLang="ko-KR" sz="1000" dirty="0"/>
                        <a:t>class</a:t>
                      </a:r>
                      <a:r>
                        <a:rPr lang="ko-KR" altLang="en-US" sz="1000" dirty="0"/>
                        <a:t>명</a:t>
                      </a:r>
                      <a:r>
                        <a:rPr lang="en-US" altLang="ko-KR" sz="1000" dirty="0"/>
                        <a:t>)</a:t>
                      </a:r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27650"/>
                  </a:ext>
                </a:extLst>
              </a:tr>
              <a:tr h="0">
                <a:tc rowSpan="5">
                  <a:txBody>
                    <a:bodyPr/>
                    <a:lstStyle/>
                    <a:p>
                      <a:pPr latinLnBrk="1"/>
                      <a:r>
                        <a:rPr lang="en" altLang="ko-KR" sz="1000" dirty="0">
                          <a:solidFill>
                            <a:schemeClr val="tx1"/>
                          </a:solidFill>
                        </a:rPr>
                        <a:t>1. Edge System(Python </a:t>
                      </a:r>
                      <a:r>
                        <a:rPr lang="ko-KR" altLang="en-US" sz="1000" dirty="0">
                          <a:solidFill>
                            <a:schemeClr val="tx1"/>
                          </a:solidFill>
                        </a:rPr>
                        <a:t>기반</a:t>
                      </a:r>
                      <a:r>
                        <a:rPr lang="en-US" altLang="ko-KR" sz="10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000" dirty="0">
                          <a:solidFill>
                            <a:schemeClr val="tx1"/>
                          </a:solidFill>
                        </a:rPr>
                        <a:t>공통</a:t>
                      </a:r>
                      <a:r>
                        <a:rPr lang="en-US" altLang="ko-KR" sz="10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" altLang="ko-KR" sz="1000" dirty="0">
                          <a:solidFill>
                            <a:schemeClr val="tx1"/>
                          </a:solidFill>
                        </a:rPr>
                        <a:t>1-1. YoloV5 pretrained model </a:t>
                      </a:r>
                      <a:r>
                        <a:rPr lang="ko-KR" altLang="en-US" sz="1000" dirty="0">
                          <a:solidFill>
                            <a:schemeClr val="tx1"/>
                          </a:solidFill>
                        </a:rPr>
                        <a:t>사용</a:t>
                      </a:r>
                      <a:r>
                        <a:rPr lang="en-US" altLang="ko-KR" sz="1000" b="1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</a:rPr>
                        <a:t>대체 가능</a:t>
                      </a:r>
                      <a:r>
                        <a:rPr lang="en-US" altLang="ko-KR" sz="1000" b="1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0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i="0" dirty="0">
                          <a:solidFill>
                            <a:schemeClr val="tx1"/>
                          </a:solidFill>
                        </a:rPr>
                        <a:t>O</a:t>
                      </a:r>
                      <a:endParaRPr lang="ko-KR" altLang="en-US" sz="1000" i="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i="0" dirty="0">
                          <a:solidFill>
                            <a:schemeClr val="tx1"/>
                          </a:solidFill>
                        </a:rPr>
                        <a:t>X</a:t>
                      </a:r>
                      <a:endParaRPr lang="ko-KR" altLang="en-US" sz="1000" i="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09236927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" altLang="ko-KR" sz="1000" dirty="0">
                          <a:solidFill>
                            <a:schemeClr val="tx1"/>
                          </a:solidFill>
                        </a:rPr>
                        <a:t>1-2. </a:t>
                      </a:r>
                      <a:r>
                        <a:rPr lang="en" altLang="ko-KR" sz="1000" dirty="0" err="1">
                          <a:solidFill>
                            <a:schemeClr val="tx1"/>
                          </a:solidFill>
                        </a:rPr>
                        <a:t>Ms</a:t>
                      </a:r>
                      <a:r>
                        <a:rPr lang="en" altLang="ko-KR" sz="1000" dirty="0">
                          <a:solidFill>
                            <a:schemeClr val="tx1"/>
                          </a:solidFill>
                        </a:rPr>
                        <a:t> coco </a:t>
                      </a:r>
                      <a:r>
                        <a:rPr lang="ko-KR" altLang="en-US" sz="1000" dirty="0">
                          <a:solidFill>
                            <a:schemeClr val="tx1"/>
                          </a:solidFill>
                        </a:rPr>
                        <a:t>훈련데이터 기준 검출 객체 </a:t>
                      </a:r>
                      <a:r>
                        <a:rPr lang="en-US" altLang="ko-KR" sz="10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en" altLang="ko-KR" sz="1000" dirty="0">
                          <a:solidFill>
                            <a:schemeClr val="tx1"/>
                          </a:solidFill>
                        </a:rPr>
                        <a:t>Classes) : 80</a:t>
                      </a:r>
                      <a:r>
                        <a:rPr lang="ko-KR" altLang="en-US" sz="1000" dirty="0">
                          <a:solidFill>
                            <a:schemeClr val="tx1"/>
                          </a:solidFill>
                        </a:rPr>
                        <a:t>가지 객체 검출 기능</a:t>
                      </a:r>
                      <a:r>
                        <a:rPr lang="en-US" altLang="ko-KR" sz="1000" b="1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</a:rPr>
                        <a:t>대체 가능 함</a:t>
                      </a:r>
                      <a:r>
                        <a:rPr lang="en-US" altLang="ko-KR" sz="1000" b="1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0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</a:rPr>
                        <a:t>O</a:t>
                      </a:r>
                      <a:endParaRPr lang="ko-KR" altLang="en-US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</a:rPr>
                        <a:t>X</a:t>
                      </a:r>
                      <a:endParaRPr lang="ko-KR" altLang="en-US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70576844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</a:rPr>
                        <a:t>1-3. </a:t>
                      </a:r>
                      <a:r>
                        <a:rPr lang="ko-KR" altLang="en-US" sz="1000" dirty="0">
                          <a:solidFill>
                            <a:schemeClr val="tx1"/>
                          </a:solidFill>
                        </a:rPr>
                        <a:t>한 종류의 객체를 동일한 객체로 가능한 </a:t>
                      </a:r>
                      <a:r>
                        <a:rPr lang="en" altLang="ko-KR" sz="1000" dirty="0">
                          <a:solidFill>
                            <a:schemeClr val="tx1"/>
                          </a:solidFill>
                        </a:rPr>
                        <a:t>Change Detection</a:t>
                      </a:r>
                      <a:r>
                        <a:rPr lang="en-US" altLang="ko-KR" sz="1000" b="1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</a:rPr>
                        <a:t>대체 가능 함</a:t>
                      </a:r>
                      <a:r>
                        <a:rPr lang="en-US" altLang="ko-KR" sz="1000" b="1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en" altLang="ko-KR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</a:rPr>
                        <a:t>O</a:t>
                      </a:r>
                      <a:endParaRPr lang="ko-KR" altLang="en-US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</a:rPr>
                        <a:t>X</a:t>
                      </a:r>
                      <a:endParaRPr lang="ko-KR" altLang="en-US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97174277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</a:rPr>
                        <a:t>1-4. </a:t>
                      </a:r>
                      <a:r>
                        <a:rPr lang="ko-KR" altLang="en-US" sz="1000" dirty="0">
                          <a:solidFill>
                            <a:schemeClr val="tx1"/>
                          </a:solidFill>
                        </a:rPr>
                        <a:t>게시를 위한 </a:t>
                      </a:r>
                      <a:r>
                        <a:rPr lang="en" altLang="ko-KR" sz="1000" dirty="0">
                          <a:solidFill>
                            <a:schemeClr val="tx1"/>
                          </a:solidFill>
                        </a:rPr>
                        <a:t>HTTP </a:t>
                      </a:r>
                      <a:r>
                        <a:rPr lang="en" altLang="ko-KR" sz="1000" dirty="0" err="1">
                          <a:solidFill>
                            <a:schemeClr val="tx1"/>
                          </a:solidFill>
                        </a:rPr>
                        <a:t>Restfull</a:t>
                      </a:r>
                      <a:r>
                        <a:rPr lang="en" altLang="ko-KR" sz="1000" dirty="0">
                          <a:solidFill>
                            <a:schemeClr val="tx1"/>
                          </a:solidFill>
                        </a:rPr>
                        <a:t> API </a:t>
                      </a:r>
                      <a:r>
                        <a:rPr lang="ko-KR" altLang="en-US" sz="1000" dirty="0">
                          <a:solidFill>
                            <a:schemeClr val="tx1"/>
                          </a:solidFill>
                        </a:rPr>
                        <a:t>사용</a:t>
                      </a:r>
                      <a:r>
                        <a:rPr lang="en-US" altLang="ko-KR" sz="10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000" dirty="0">
                          <a:solidFill>
                            <a:schemeClr val="tx1"/>
                          </a:solidFill>
                        </a:rPr>
                        <a:t>공통</a:t>
                      </a:r>
                      <a:r>
                        <a:rPr lang="en-US" altLang="ko-KR" sz="10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</a:rPr>
                        <a:t>O</a:t>
                      </a:r>
                      <a:endParaRPr lang="ko-KR" altLang="en-US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</a:rPr>
                        <a:t>X</a:t>
                      </a:r>
                      <a:endParaRPr lang="ko-KR" altLang="en-US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21258307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</a:rPr>
                        <a:t>1-5. </a:t>
                      </a:r>
                      <a:r>
                        <a:rPr lang="ko-KR" altLang="en-US" sz="1000" dirty="0">
                          <a:solidFill>
                            <a:schemeClr val="tx1"/>
                          </a:solidFill>
                        </a:rPr>
                        <a:t>기타 추가기능 </a:t>
                      </a:r>
                      <a:r>
                        <a:rPr lang="en-US" altLang="ko-KR" sz="10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000" dirty="0">
                          <a:solidFill>
                            <a:schemeClr val="tx1"/>
                          </a:solidFill>
                        </a:rPr>
                        <a:t>더 있을 경우 아래 표 추가</a:t>
                      </a:r>
                      <a:r>
                        <a:rPr lang="en-US" altLang="ko-KR" sz="100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54219046"/>
                  </a:ext>
                </a:extLst>
              </a:tr>
              <a:tr h="0">
                <a:tc rowSpan="5">
                  <a:txBody>
                    <a:bodyPr/>
                    <a:lstStyle/>
                    <a:p>
                      <a:pPr latinLnBrk="1"/>
                      <a:r>
                        <a:rPr lang="en" altLang="ko-KR" sz="1000" dirty="0">
                          <a:solidFill>
                            <a:schemeClr val="tx1"/>
                          </a:solidFill>
                        </a:rPr>
                        <a:t>2. Service System(Python, Django </a:t>
                      </a:r>
                      <a:r>
                        <a:rPr lang="ko-KR" altLang="en-US" sz="1000" dirty="0">
                          <a:solidFill>
                            <a:schemeClr val="tx1"/>
                          </a:solidFill>
                        </a:rPr>
                        <a:t>기반</a:t>
                      </a:r>
                      <a:r>
                        <a:rPr lang="en-US" altLang="ko-KR" sz="10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en" altLang="ko-KR" sz="1000" dirty="0" err="1">
                          <a:solidFill>
                            <a:schemeClr val="tx1"/>
                          </a:solidFill>
                        </a:rPr>
                        <a:t>Pythonanywhere</a:t>
                      </a:r>
                      <a:r>
                        <a:rPr lang="en" altLang="ko-KR" sz="10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000" dirty="0">
                          <a:solidFill>
                            <a:schemeClr val="tx1"/>
                          </a:solidFill>
                        </a:rPr>
                        <a:t>클라우드상 서비스 구동</a:t>
                      </a:r>
                      <a:r>
                        <a:rPr lang="en-US" altLang="ko-KR" sz="10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000" dirty="0">
                          <a:solidFill>
                            <a:schemeClr val="tx1"/>
                          </a:solidFill>
                        </a:rPr>
                        <a:t>일부 확장 기능 가능</a:t>
                      </a:r>
                      <a:r>
                        <a:rPr lang="en-US" altLang="ko-KR" sz="10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</a:rPr>
                        <a:t>2-1. </a:t>
                      </a:r>
                      <a:r>
                        <a:rPr lang="ko-KR" altLang="en-US" sz="1000" dirty="0">
                          <a:solidFill>
                            <a:schemeClr val="tx1"/>
                          </a:solidFill>
                        </a:rPr>
                        <a:t>사용자 보안 기능</a:t>
                      </a:r>
                      <a:r>
                        <a:rPr lang="en-US" altLang="ko-KR" sz="10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000" dirty="0">
                          <a:solidFill>
                            <a:schemeClr val="tx1"/>
                          </a:solidFill>
                        </a:rPr>
                        <a:t>보안키를 이용한 로그인</a:t>
                      </a:r>
                      <a:r>
                        <a:rPr lang="en-US" altLang="ko-KR" sz="10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000" dirty="0">
                          <a:solidFill>
                            <a:schemeClr val="tx1"/>
                          </a:solidFill>
                        </a:rPr>
                        <a:t>공통</a:t>
                      </a:r>
                      <a:r>
                        <a:rPr lang="en-US" altLang="ko-KR" sz="10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</a:rPr>
                        <a:t>O</a:t>
                      </a:r>
                      <a:endParaRPr lang="ko-KR" altLang="en-US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20204117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" altLang="ko-KR" sz="1000" dirty="0">
                          <a:solidFill>
                            <a:schemeClr val="tx1"/>
                          </a:solidFill>
                        </a:rPr>
                        <a:t>2-2. Image Blog </a:t>
                      </a:r>
                      <a:r>
                        <a:rPr lang="ko-KR" altLang="en-US" sz="1000" dirty="0">
                          <a:solidFill>
                            <a:schemeClr val="tx1"/>
                          </a:solidFill>
                        </a:rPr>
                        <a:t>및 관리 기능</a:t>
                      </a:r>
                      <a:r>
                        <a:rPr lang="en-US" altLang="ko-KR" sz="10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000" dirty="0">
                          <a:solidFill>
                            <a:schemeClr val="tx1"/>
                          </a:solidFill>
                        </a:rPr>
                        <a:t>공통</a:t>
                      </a:r>
                      <a:r>
                        <a:rPr lang="en-US" altLang="ko-KR" sz="10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000" dirty="0">
                          <a:solidFill>
                            <a:schemeClr val="tx1"/>
                          </a:solidFill>
                        </a:rPr>
                        <a:t>일부 확장 기능 가능</a:t>
                      </a:r>
                      <a:r>
                        <a:rPr lang="en-US" altLang="ko-KR" sz="10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</a:rPr>
                        <a:t>O</a:t>
                      </a:r>
                      <a:endParaRPr lang="ko-KR" altLang="en-US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04618117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</a:rPr>
                        <a:t>2-3. </a:t>
                      </a:r>
                      <a:r>
                        <a:rPr lang="ko-KR" altLang="en-US" sz="1000" dirty="0">
                          <a:solidFill>
                            <a:schemeClr val="tx1"/>
                          </a:solidFill>
                        </a:rPr>
                        <a:t>게시를 위한 </a:t>
                      </a:r>
                      <a:r>
                        <a:rPr lang="en" altLang="ko-KR" sz="1000" dirty="0">
                          <a:solidFill>
                            <a:schemeClr val="tx1"/>
                          </a:solidFill>
                        </a:rPr>
                        <a:t>HTTP </a:t>
                      </a:r>
                      <a:r>
                        <a:rPr lang="en" altLang="ko-KR" sz="1000" dirty="0" err="1">
                          <a:solidFill>
                            <a:schemeClr val="tx1"/>
                          </a:solidFill>
                        </a:rPr>
                        <a:t>Restfull</a:t>
                      </a:r>
                      <a:r>
                        <a:rPr lang="en" altLang="ko-KR" sz="1000" dirty="0">
                          <a:solidFill>
                            <a:schemeClr val="tx1"/>
                          </a:solidFill>
                        </a:rPr>
                        <a:t> API </a:t>
                      </a:r>
                      <a:r>
                        <a:rPr lang="ko-KR" altLang="en-US" sz="1000" dirty="0">
                          <a:solidFill>
                            <a:schemeClr val="tx1"/>
                          </a:solidFill>
                        </a:rPr>
                        <a:t>제공</a:t>
                      </a:r>
                      <a:r>
                        <a:rPr lang="en-US" altLang="ko-KR" sz="10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000" dirty="0">
                          <a:solidFill>
                            <a:schemeClr val="tx1"/>
                          </a:solidFill>
                        </a:rPr>
                        <a:t>공통</a:t>
                      </a:r>
                      <a:r>
                        <a:rPr lang="en-US" altLang="ko-KR" sz="10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</a:rPr>
                        <a:t>O</a:t>
                      </a:r>
                      <a:endParaRPr lang="ko-KR" altLang="en-US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30991604"/>
                  </a:ext>
                </a:extLst>
              </a:tr>
              <a:tr h="228600">
                <a:tc vMerge="1">
                  <a:txBody>
                    <a:bodyPr/>
                    <a:lstStyle/>
                    <a:p>
                      <a:pPr latinLnBrk="1"/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" altLang="ko-KR" sz="1000" dirty="0">
                          <a:solidFill>
                            <a:schemeClr val="tx1"/>
                          </a:solidFill>
                        </a:rPr>
                        <a:t>2-4. Image </a:t>
                      </a:r>
                      <a:r>
                        <a:rPr lang="ko-KR" altLang="en-US" sz="1000" dirty="0">
                          <a:solidFill>
                            <a:schemeClr val="tx1"/>
                          </a:solidFill>
                        </a:rPr>
                        <a:t>목록</a:t>
                      </a:r>
                      <a:r>
                        <a:rPr lang="en-US" altLang="ko-KR" sz="10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000" dirty="0">
                          <a:solidFill>
                            <a:schemeClr val="tx1"/>
                          </a:solidFill>
                        </a:rPr>
                        <a:t>획득을 위한 </a:t>
                      </a:r>
                      <a:r>
                        <a:rPr lang="en" altLang="ko-KR" sz="1000" dirty="0">
                          <a:solidFill>
                            <a:schemeClr val="tx1"/>
                          </a:solidFill>
                        </a:rPr>
                        <a:t>HTTP Restfull API </a:t>
                      </a:r>
                      <a:r>
                        <a:rPr lang="ko-KR" altLang="en-US" sz="1000" dirty="0">
                          <a:solidFill>
                            <a:schemeClr val="tx1"/>
                          </a:solidFill>
                        </a:rPr>
                        <a:t>제공</a:t>
                      </a:r>
                      <a:endParaRPr lang="en-US" altLang="ko-KR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</a:rPr>
                        <a:t>O</a:t>
                      </a:r>
                      <a:endParaRPr lang="ko-KR" altLang="en-US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</a:rPr>
                        <a:t>Path: “/</a:t>
                      </a:r>
                      <a:r>
                        <a:rPr lang="en-US" altLang="ko-KR" sz="1000" dirty="0" err="1">
                          <a:solidFill>
                            <a:schemeClr val="tx1"/>
                          </a:solidFill>
                        </a:rPr>
                        <a:t>api</a:t>
                      </a:r>
                      <a:r>
                        <a:rPr lang="en-US" altLang="ko-KR" sz="1000" dirty="0">
                          <a:solidFill>
                            <a:schemeClr val="tx1"/>
                          </a:solidFill>
                        </a:rPr>
                        <a:t>/posts/”</a:t>
                      </a:r>
                      <a:endParaRPr lang="ko-KR" altLang="en-US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92280063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</a:rPr>
                        <a:t>2-5. Person Detection Filter</a:t>
                      </a:r>
                      <a:endParaRPr lang="ko-KR" altLang="en-US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</a:rPr>
                        <a:t>O</a:t>
                      </a:r>
                      <a:endParaRPr lang="ko-KR" altLang="en-US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</a:rPr>
                        <a:t>Function </a:t>
                      </a:r>
                      <a:r>
                        <a:rPr lang="en-US" altLang="ko-KR" sz="1000" dirty="0" err="1">
                          <a:solidFill>
                            <a:schemeClr val="tx1"/>
                          </a:solidFill>
                        </a:rPr>
                        <a:t>post_list</a:t>
                      </a:r>
                      <a:r>
                        <a:rPr lang="en-US" altLang="ko-KR" sz="1000" dirty="0">
                          <a:solidFill>
                            <a:schemeClr val="tx1"/>
                          </a:solidFill>
                        </a:rPr>
                        <a:t> in views.py</a:t>
                      </a:r>
                      <a:endParaRPr lang="ko-KR" altLang="en-US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42395334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" altLang="ko-KR" sz="1000" dirty="0">
                          <a:solidFill>
                            <a:schemeClr val="tx1"/>
                          </a:solidFill>
                        </a:rPr>
                        <a:t>3. Client System(Android, Native App, </a:t>
                      </a:r>
                      <a:r>
                        <a:rPr lang="ko-KR" altLang="en-US" sz="1000" dirty="0">
                          <a:solidFill>
                            <a:schemeClr val="tx1"/>
                          </a:solidFill>
                        </a:rPr>
                        <a:t>개별 제안</a:t>
                      </a:r>
                      <a:r>
                        <a:rPr lang="en-US" altLang="ko-KR" sz="10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" altLang="ko-KR" sz="1000" dirty="0">
                          <a:solidFill>
                            <a:schemeClr val="tx1"/>
                          </a:solidFill>
                        </a:rPr>
                        <a:t>3.1. Image list view </a:t>
                      </a:r>
                      <a:r>
                        <a:rPr lang="ko-KR" altLang="en-US" sz="1000" dirty="0">
                          <a:solidFill>
                            <a:schemeClr val="tx1"/>
                          </a:solidFill>
                        </a:rPr>
                        <a:t>기능</a:t>
                      </a:r>
                      <a:r>
                        <a:rPr lang="en-US" altLang="ko-KR" sz="10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000" dirty="0">
                          <a:solidFill>
                            <a:schemeClr val="tx1"/>
                          </a:solidFill>
                        </a:rPr>
                        <a:t>공통 기능</a:t>
                      </a:r>
                      <a:r>
                        <a:rPr lang="en-US" altLang="ko-KR" sz="10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000" dirty="0">
                          <a:solidFill>
                            <a:schemeClr val="tx1"/>
                          </a:solidFill>
                        </a:rPr>
                        <a:t>개별 제안</a:t>
                      </a:r>
                      <a:r>
                        <a:rPr lang="en-US" altLang="ko-KR" sz="10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</a:rPr>
                        <a:t>O</a:t>
                      </a:r>
                      <a:endParaRPr lang="ko-KR" altLang="en-US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29213450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" altLang="ko-KR" sz="1000" dirty="0">
                          <a:solidFill>
                            <a:schemeClr val="tx1"/>
                          </a:solidFill>
                        </a:rPr>
                        <a:t>3.2. Image </a:t>
                      </a:r>
                      <a:r>
                        <a:rPr lang="ko-KR" altLang="en-US" sz="1000" dirty="0">
                          <a:solidFill>
                            <a:schemeClr val="tx1"/>
                          </a:solidFill>
                        </a:rPr>
                        <a:t>목록</a:t>
                      </a:r>
                      <a:r>
                        <a:rPr lang="en-US" altLang="ko-KR" sz="10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000" dirty="0">
                          <a:solidFill>
                            <a:schemeClr val="tx1"/>
                          </a:solidFill>
                        </a:rPr>
                        <a:t>획득을 위한 </a:t>
                      </a:r>
                      <a:r>
                        <a:rPr lang="en" altLang="ko-KR" sz="1000" dirty="0">
                          <a:solidFill>
                            <a:schemeClr val="tx1"/>
                          </a:solidFill>
                        </a:rPr>
                        <a:t>HTTP </a:t>
                      </a:r>
                      <a:r>
                        <a:rPr lang="en" altLang="ko-KR" sz="1000" dirty="0" err="1">
                          <a:solidFill>
                            <a:schemeClr val="tx1"/>
                          </a:solidFill>
                        </a:rPr>
                        <a:t>Restfull</a:t>
                      </a:r>
                      <a:r>
                        <a:rPr lang="en" altLang="ko-KR" sz="1000" dirty="0">
                          <a:solidFill>
                            <a:schemeClr val="tx1"/>
                          </a:solidFill>
                        </a:rPr>
                        <a:t> API </a:t>
                      </a:r>
                      <a:r>
                        <a:rPr lang="ko-KR" altLang="en-US" sz="1000" dirty="0">
                          <a:solidFill>
                            <a:schemeClr val="tx1"/>
                          </a:solidFill>
                        </a:rPr>
                        <a:t>사용</a:t>
                      </a:r>
                      <a:r>
                        <a:rPr lang="en-US" altLang="ko-KR" sz="10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000" dirty="0">
                          <a:solidFill>
                            <a:schemeClr val="tx1"/>
                          </a:solidFill>
                        </a:rPr>
                        <a:t>신규 추가 필요</a:t>
                      </a:r>
                      <a:r>
                        <a:rPr lang="en-US" altLang="ko-KR" sz="10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</a:rPr>
                        <a:t>O</a:t>
                      </a:r>
                      <a:endParaRPr lang="ko-KR" altLang="en-US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</a:rPr>
                        <a:t>Function </a:t>
                      </a:r>
                      <a:r>
                        <a:rPr lang="en-US" altLang="ko-KR" sz="1000" dirty="0" err="1">
                          <a:solidFill>
                            <a:schemeClr val="tx1"/>
                          </a:solidFill>
                        </a:rPr>
                        <a:t>onClickRetrieveList</a:t>
                      </a:r>
                      <a:r>
                        <a:rPr lang="en-US" altLang="ko-KR" sz="1000" dirty="0">
                          <a:solidFill>
                            <a:schemeClr val="tx1"/>
                          </a:solidFill>
                        </a:rPr>
                        <a:t>() on MainActivity.java</a:t>
                      </a:r>
                      <a:endParaRPr lang="ko-KR" altLang="en-US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39566013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</a:rPr>
                        <a:t>3.3. </a:t>
                      </a:r>
                      <a:r>
                        <a:rPr lang="ko-KR" altLang="en-US" sz="1000" dirty="0">
                          <a:solidFill>
                            <a:schemeClr val="tx1"/>
                          </a:solidFill>
                        </a:rPr>
                        <a:t>공통기능 및 추가기능을 활용한 사용자 시나리오 및 </a:t>
                      </a:r>
                      <a:r>
                        <a:rPr lang="en" altLang="ko-KR" sz="1000" dirty="0">
                          <a:solidFill>
                            <a:schemeClr val="tx1"/>
                          </a:solidFill>
                        </a:rPr>
                        <a:t>UI </a:t>
                      </a:r>
                      <a:r>
                        <a:rPr lang="ko-KR" altLang="en-US" sz="1000" dirty="0">
                          <a:solidFill>
                            <a:schemeClr val="tx1"/>
                          </a:solidFill>
                        </a:rPr>
                        <a:t>제공 </a:t>
                      </a:r>
                      <a:r>
                        <a:rPr lang="en-US" altLang="ko-KR" sz="10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000" dirty="0">
                          <a:solidFill>
                            <a:schemeClr val="tx1"/>
                          </a:solidFill>
                        </a:rPr>
                        <a:t>신규 추가 필요</a:t>
                      </a:r>
                      <a:r>
                        <a:rPr lang="en-US" altLang="ko-KR" sz="10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5962697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</a:rPr>
                        <a:t>3-4. </a:t>
                      </a:r>
                      <a:r>
                        <a:rPr lang="ko-KR" altLang="en-US" sz="1000" dirty="0">
                          <a:solidFill>
                            <a:schemeClr val="tx1"/>
                          </a:solidFill>
                        </a:rPr>
                        <a:t>추가 기능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5756393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309856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C953FC-8DC7-DEB6-AC4F-171A8F72DA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4040" y="609888"/>
            <a:ext cx="8757919" cy="307777"/>
          </a:xfrm>
        </p:spPr>
        <p:txBody>
          <a:bodyPr/>
          <a:lstStyle/>
          <a:p>
            <a:r>
              <a:rPr lang="ko-KR" altLang="en-US" sz="2000" dirty="0">
                <a:solidFill>
                  <a:schemeClr val="tx2"/>
                </a:solidFill>
              </a:rPr>
              <a:t>기능 </a:t>
            </a:r>
            <a:r>
              <a:rPr lang="en-US" altLang="ko-KR" sz="2000" dirty="0">
                <a:solidFill>
                  <a:schemeClr val="tx2"/>
                </a:solidFill>
              </a:rPr>
              <a:t>-</a:t>
            </a:r>
            <a:r>
              <a:rPr lang="ko-KR" altLang="en-US" sz="2000" dirty="0">
                <a:solidFill>
                  <a:schemeClr val="tx2"/>
                </a:solidFill>
              </a:rPr>
              <a:t> </a:t>
            </a:r>
            <a:r>
              <a:rPr lang="en-US" altLang="ko-KR" sz="2000" dirty="0">
                <a:solidFill>
                  <a:schemeClr val="tx2"/>
                </a:solidFill>
              </a:rPr>
              <a:t>1. Edge System(Python </a:t>
            </a:r>
            <a:r>
              <a:rPr lang="ko-KR" altLang="en-US" sz="2000" dirty="0">
                <a:solidFill>
                  <a:schemeClr val="tx2"/>
                </a:solidFill>
              </a:rPr>
              <a:t>기반</a:t>
            </a:r>
            <a:r>
              <a:rPr lang="en-US" altLang="ko-KR" sz="2000" dirty="0">
                <a:solidFill>
                  <a:schemeClr val="tx2"/>
                </a:solidFill>
              </a:rPr>
              <a:t>, </a:t>
            </a:r>
            <a:r>
              <a:rPr lang="ko-KR" altLang="en-US" sz="2000" dirty="0">
                <a:solidFill>
                  <a:schemeClr val="tx2"/>
                </a:solidFill>
              </a:rPr>
              <a:t>공통</a:t>
            </a:r>
            <a:r>
              <a:rPr lang="en-US" altLang="ko-KR" sz="2000" dirty="0">
                <a:solidFill>
                  <a:schemeClr val="tx2"/>
                </a:solidFill>
              </a:rPr>
              <a:t>)</a:t>
            </a:r>
            <a:endParaRPr kumimoji="1"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BC2D131-20C9-3743-0C3C-F48B12A4E9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95300" y="1143000"/>
            <a:ext cx="4309110" cy="215444"/>
          </a:xfrm>
        </p:spPr>
        <p:txBody>
          <a:bodyPr/>
          <a:lstStyle/>
          <a:p>
            <a:pPr marL="12065">
              <a:lnSpc>
                <a:spcPct val="100000"/>
              </a:lnSpc>
              <a:spcBef>
                <a:spcPts val="105"/>
              </a:spcBef>
              <a:tabLst>
                <a:tab pos="299720" algn="l"/>
              </a:tabLst>
            </a:pPr>
            <a:r>
              <a:rPr lang="en" altLang="ko-KR" sz="1400" spc="-5" dirty="0">
                <a:solidFill>
                  <a:srgbClr val="558ED5"/>
                </a:solidFill>
                <a:latin typeface="+mn-ea"/>
                <a:cs typeface="Malgun Gothic"/>
              </a:rPr>
              <a:t>1-1. YoloV5 pretrained model </a:t>
            </a:r>
            <a:r>
              <a:rPr lang="ko-KR" altLang="en-US" sz="1400" spc="-5" dirty="0">
                <a:solidFill>
                  <a:srgbClr val="558ED5"/>
                </a:solidFill>
                <a:latin typeface="+mn-ea"/>
                <a:cs typeface="Malgun Gothic"/>
              </a:rPr>
              <a:t>사용</a:t>
            </a:r>
            <a:r>
              <a:rPr lang="en-US" altLang="ko-KR" sz="1400" b="1" spc="-5" dirty="0">
                <a:solidFill>
                  <a:srgbClr val="558ED5"/>
                </a:solidFill>
                <a:latin typeface="+mn-ea"/>
                <a:cs typeface="Malgun Gothic"/>
              </a:rPr>
              <a:t> (</a:t>
            </a:r>
            <a:r>
              <a:rPr lang="ko-KR" altLang="en-US" sz="1400" b="1" spc="-5" dirty="0">
                <a:solidFill>
                  <a:srgbClr val="558ED5"/>
                </a:solidFill>
                <a:latin typeface="+mn-ea"/>
                <a:cs typeface="Malgun Gothic"/>
              </a:rPr>
              <a:t>대체 가능 함</a:t>
            </a:r>
            <a:r>
              <a:rPr lang="en-US" altLang="ko-KR" sz="1400" b="1" spc="-5" dirty="0">
                <a:solidFill>
                  <a:srgbClr val="558ED5"/>
                </a:solidFill>
                <a:latin typeface="+mn-ea"/>
                <a:cs typeface="Malgun Gothic"/>
              </a:rPr>
              <a:t>)</a:t>
            </a:r>
            <a:r>
              <a:rPr lang="ko-KR" altLang="en-US" sz="1400" spc="-5" dirty="0">
                <a:solidFill>
                  <a:srgbClr val="558ED5"/>
                </a:solidFill>
                <a:latin typeface="+mn-ea"/>
                <a:cs typeface="Malgun Gothic"/>
              </a:rPr>
              <a:t> </a:t>
            </a:r>
            <a:endParaRPr lang="ko-KR" altLang="en-US" sz="1400" i="1" dirty="0">
              <a:solidFill>
                <a:srgbClr val="FF0000"/>
              </a:solidFill>
              <a:latin typeface="+mn-ea"/>
              <a:cs typeface="Malgun Gothic"/>
            </a:endParaRP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DAA10C6-B376-C92B-2E3F-39E2C58C9A97}"/>
              </a:ext>
            </a:extLst>
          </p:cNvPr>
          <p:cNvSpPr>
            <a:spLocks noGrp="1"/>
          </p:cNvSpPr>
          <p:nvPr>
            <p:ph sz="half" idx="3"/>
          </p:nvPr>
        </p:nvSpPr>
        <p:spPr>
          <a:xfrm>
            <a:off x="5596890" y="1112487"/>
            <a:ext cx="4309110" cy="856645"/>
          </a:xfrm>
        </p:spPr>
        <p:txBody>
          <a:bodyPr/>
          <a:lstStyle/>
          <a:p>
            <a:pPr marL="12065">
              <a:lnSpc>
                <a:spcPct val="100000"/>
              </a:lnSpc>
              <a:spcBef>
                <a:spcPts val="105"/>
              </a:spcBef>
              <a:tabLst>
                <a:tab pos="299720" algn="l"/>
              </a:tabLst>
            </a:pPr>
            <a:r>
              <a:rPr lang="en" altLang="ko-KR" sz="1400" spc="-5" dirty="0">
                <a:solidFill>
                  <a:srgbClr val="558ED5"/>
                </a:solidFill>
                <a:latin typeface="+mn-ea"/>
                <a:cs typeface="Malgun Gothic"/>
              </a:rPr>
              <a:t>1-2. </a:t>
            </a:r>
            <a:r>
              <a:rPr lang="en" altLang="ko-KR" sz="1400" spc="-5" dirty="0" err="1">
                <a:solidFill>
                  <a:srgbClr val="558ED5"/>
                </a:solidFill>
                <a:latin typeface="+mn-ea"/>
                <a:cs typeface="Malgun Gothic"/>
              </a:rPr>
              <a:t>Ms</a:t>
            </a:r>
            <a:r>
              <a:rPr lang="en" altLang="ko-KR" sz="1400" spc="-5" dirty="0">
                <a:solidFill>
                  <a:srgbClr val="558ED5"/>
                </a:solidFill>
                <a:latin typeface="+mn-ea"/>
                <a:cs typeface="Malgun Gothic"/>
              </a:rPr>
              <a:t> coco </a:t>
            </a:r>
            <a:r>
              <a:rPr lang="ko-KR" altLang="en-US" sz="1400" spc="-5" dirty="0">
                <a:solidFill>
                  <a:srgbClr val="558ED5"/>
                </a:solidFill>
                <a:latin typeface="+mn-ea"/>
                <a:cs typeface="Malgun Gothic"/>
              </a:rPr>
              <a:t>훈련데이터 기준 검출 객체 </a:t>
            </a:r>
            <a:r>
              <a:rPr lang="en-US" altLang="ko-KR" sz="1400" spc="-5" dirty="0">
                <a:solidFill>
                  <a:srgbClr val="558ED5"/>
                </a:solidFill>
                <a:latin typeface="+mn-ea"/>
                <a:cs typeface="Malgun Gothic"/>
              </a:rPr>
              <a:t>(</a:t>
            </a:r>
            <a:r>
              <a:rPr lang="en" altLang="ko-KR" sz="1400" spc="-5" dirty="0">
                <a:solidFill>
                  <a:srgbClr val="558ED5"/>
                </a:solidFill>
                <a:latin typeface="+mn-ea"/>
                <a:cs typeface="Malgun Gothic"/>
              </a:rPr>
              <a:t>Classes) : 80</a:t>
            </a:r>
            <a:r>
              <a:rPr lang="ko-KR" altLang="en-US" sz="1400" spc="-5" dirty="0">
                <a:solidFill>
                  <a:srgbClr val="558ED5"/>
                </a:solidFill>
                <a:latin typeface="+mn-ea"/>
                <a:cs typeface="Malgun Gothic"/>
              </a:rPr>
              <a:t>가지 객체 검출 기능</a:t>
            </a:r>
            <a:r>
              <a:rPr lang="en-US" altLang="ko-KR" sz="1400" b="1" spc="-5" dirty="0">
                <a:solidFill>
                  <a:srgbClr val="558ED5"/>
                </a:solidFill>
                <a:latin typeface="+mn-ea"/>
                <a:cs typeface="Malgun Gothic"/>
              </a:rPr>
              <a:t>(</a:t>
            </a:r>
            <a:r>
              <a:rPr lang="ko-KR" altLang="en-US" sz="1400" b="1" spc="-5" dirty="0">
                <a:solidFill>
                  <a:srgbClr val="558ED5"/>
                </a:solidFill>
                <a:latin typeface="+mn-ea"/>
                <a:cs typeface="Malgun Gothic"/>
              </a:rPr>
              <a:t>대체 가능 함</a:t>
            </a:r>
            <a:r>
              <a:rPr lang="en-US" altLang="ko-KR" sz="1400" b="1" spc="-5" dirty="0">
                <a:solidFill>
                  <a:srgbClr val="558ED5"/>
                </a:solidFill>
                <a:latin typeface="+mn-ea"/>
                <a:cs typeface="Malgun Gothic"/>
              </a:rPr>
              <a:t>)</a:t>
            </a:r>
            <a:endParaRPr lang="ko-KR" altLang="en-US" sz="1400" b="1" spc="-5" dirty="0">
              <a:solidFill>
                <a:srgbClr val="558ED5"/>
              </a:solidFill>
              <a:latin typeface="+mn-ea"/>
              <a:cs typeface="Malgun Gothic"/>
            </a:endParaRPr>
          </a:p>
          <a:p>
            <a:pPr>
              <a:spcBef>
                <a:spcPts val="1440"/>
              </a:spcBef>
              <a:tabLst>
                <a:tab pos="690880" algn="l"/>
                <a:tab pos="691515" algn="l"/>
              </a:tabLst>
            </a:pPr>
            <a:endParaRPr lang="ko-KR" altLang="en-US" sz="800" dirty="0">
              <a:latin typeface="+mn-ea"/>
              <a:cs typeface="Gulim"/>
            </a:endParaRPr>
          </a:p>
          <a:p>
            <a:endParaRPr kumimoji="1" lang="ko-KR" altLang="en-US" sz="800" dirty="0"/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2436FCE2-7D0B-C826-592C-819072951881}"/>
              </a:ext>
            </a:extLst>
          </p:cNvPr>
          <p:cNvSpPr txBox="1">
            <a:spLocks/>
          </p:cNvSpPr>
          <p:nvPr/>
        </p:nvSpPr>
        <p:spPr>
          <a:xfrm>
            <a:off x="495300" y="3289251"/>
            <a:ext cx="4309110" cy="85664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>
              <a:defRPr sz="1050" b="0" i="0">
                <a:solidFill>
                  <a:schemeClr val="bg1"/>
                </a:solidFill>
                <a:latin typeface="Consolas"/>
                <a:ea typeface="+mn-ea"/>
                <a:cs typeface="Consola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marL="12065" latinLnBrk="0">
              <a:spcBef>
                <a:spcPts val="105"/>
              </a:spcBef>
              <a:tabLst>
                <a:tab pos="299720" algn="l"/>
              </a:tabLst>
            </a:pPr>
            <a:r>
              <a:rPr lang="en-US" altLang="ko-KR" sz="1400" kern="0" spc="-5" dirty="0">
                <a:solidFill>
                  <a:srgbClr val="558ED5"/>
                </a:solidFill>
                <a:latin typeface="+mn-ea"/>
                <a:cs typeface="Malgun Gothic"/>
              </a:rPr>
              <a:t>1-3. </a:t>
            </a:r>
            <a:r>
              <a:rPr lang="ko-KR" altLang="en-US" sz="1400" kern="0" spc="-5" dirty="0">
                <a:solidFill>
                  <a:srgbClr val="558ED5"/>
                </a:solidFill>
                <a:latin typeface="+mn-ea"/>
                <a:cs typeface="Malgun Gothic"/>
              </a:rPr>
              <a:t>한 종류의 객체를 동일한 객체로 가능한 </a:t>
            </a:r>
            <a:r>
              <a:rPr lang="en" altLang="ko-KR" sz="1400" kern="0" spc="-5" dirty="0">
                <a:solidFill>
                  <a:srgbClr val="558ED5"/>
                </a:solidFill>
                <a:latin typeface="+mn-ea"/>
                <a:cs typeface="Malgun Gothic"/>
              </a:rPr>
              <a:t>Change Detection</a:t>
            </a:r>
            <a:r>
              <a:rPr lang="en-US" altLang="ko-KR" sz="1400" b="1" kern="0" spc="-5" dirty="0">
                <a:solidFill>
                  <a:srgbClr val="558ED5"/>
                </a:solidFill>
                <a:latin typeface="+mn-ea"/>
                <a:cs typeface="Malgun Gothic"/>
              </a:rPr>
              <a:t> (</a:t>
            </a:r>
            <a:r>
              <a:rPr lang="ko-KR" altLang="en-US" sz="1400" b="1" kern="0" spc="-5" dirty="0">
                <a:solidFill>
                  <a:srgbClr val="558ED5"/>
                </a:solidFill>
                <a:latin typeface="+mn-ea"/>
                <a:cs typeface="Malgun Gothic"/>
              </a:rPr>
              <a:t>대체 가능 함</a:t>
            </a:r>
            <a:r>
              <a:rPr lang="en-US" altLang="ko-KR" sz="1400" b="1" kern="0" spc="-5" dirty="0">
                <a:solidFill>
                  <a:srgbClr val="558ED5"/>
                </a:solidFill>
                <a:latin typeface="+mn-ea"/>
                <a:cs typeface="Malgun Gothic"/>
              </a:rPr>
              <a:t>)</a:t>
            </a:r>
            <a:r>
              <a:rPr lang="ko-KR" altLang="en-US" sz="1400" kern="0" spc="-5" dirty="0">
                <a:solidFill>
                  <a:srgbClr val="558ED5"/>
                </a:solidFill>
                <a:latin typeface="+mn-ea"/>
                <a:cs typeface="Malgun Gothic"/>
              </a:rPr>
              <a:t> </a:t>
            </a:r>
            <a:endParaRPr lang="ko-KR" altLang="en-US" sz="1400" i="1" kern="0" dirty="0">
              <a:solidFill>
                <a:srgbClr val="FF0000"/>
              </a:solidFill>
              <a:latin typeface="+mn-ea"/>
              <a:cs typeface="Malgun Gothic"/>
            </a:endParaRPr>
          </a:p>
          <a:p>
            <a:pPr marL="233680" indent="-287655" latinLnBrk="0">
              <a:spcBef>
                <a:spcPts val="1440"/>
              </a:spcBef>
              <a:buFontTx/>
              <a:buChar char="-"/>
              <a:tabLst>
                <a:tab pos="690880" algn="l"/>
                <a:tab pos="691515" algn="l"/>
              </a:tabLst>
            </a:pPr>
            <a:endParaRPr lang="ko-KR" altLang="en-US" sz="800" kern="0" dirty="0">
              <a:latin typeface="+mn-ea"/>
              <a:cs typeface="Gulim"/>
            </a:endParaRPr>
          </a:p>
          <a:p>
            <a:pPr latinLnBrk="0"/>
            <a:endParaRPr kumimoji="1" lang="ko-KR" altLang="en-US" sz="800" kern="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19A3DE4-A43C-B074-1DFA-B59ADA5AD5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2800" y="1671637"/>
            <a:ext cx="2343150" cy="175736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70AC74F6-4431-7C80-0EC7-304B1D22057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47010" y="3743027"/>
            <a:ext cx="2476500" cy="1857375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B74BF682-699E-C8BB-5B9D-4889FC2B247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0510" y="3717573"/>
            <a:ext cx="2476500" cy="1857375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78B06724-9E0A-7BE0-9B8B-098D5BBB7D73}"/>
              </a:ext>
            </a:extLst>
          </p:cNvPr>
          <p:cNvSpPr txBox="1"/>
          <p:nvPr/>
        </p:nvSpPr>
        <p:spPr>
          <a:xfrm>
            <a:off x="3004886" y="1723174"/>
            <a:ext cx="331971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Pretrained model is used as it is. However, there might be some</a:t>
            </a:r>
          </a:p>
          <a:p>
            <a:r>
              <a:rPr lang="en-US" dirty="0"/>
              <a:t>limitations with the detection</a:t>
            </a:r>
          </a:p>
          <a:p>
            <a:r>
              <a:rPr lang="en-US" dirty="0"/>
              <a:t>because the heater fan is also</a:t>
            </a:r>
          </a:p>
          <a:p>
            <a:r>
              <a:rPr lang="en-US" dirty="0"/>
              <a:t>detected as a person.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EC76AC52-59CE-E659-A315-ECB11555549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7078" y="1387501"/>
            <a:ext cx="2476500" cy="1857375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011F65C1-6063-D39C-2E28-C0561F6B9E16}"/>
              </a:ext>
            </a:extLst>
          </p:cNvPr>
          <p:cNvSpPr txBox="1"/>
          <p:nvPr/>
        </p:nvSpPr>
        <p:spPr>
          <a:xfrm>
            <a:off x="76200" y="5634269"/>
            <a:ext cx="62484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These pictures are taken 2 seconds away from each other. Even when a person is already detected, Change Detection detects the new person on the phone and a picture is captured because of it.</a:t>
            </a:r>
          </a:p>
        </p:txBody>
      </p:sp>
    </p:spTree>
    <p:extLst>
      <p:ext uri="{BB962C8B-B14F-4D97-AF65-F5344CB8AC3E}">
        <p14:creationId xmlns:p14="http://schemas.microsoft.com/office/powerpoint/2010/main" val="32092537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FA00A9-4053-CB77-9640-4959F59DD1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C5CC2F-B506-D852-A6AF-03E5F64F4F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4040" y="609888"/>
            <a:ext cx="8757919" cy="307777"/>
          </a:xfrm>
        </p:spPr>
        <p:txBody>
          <a:bodyPr/>
          <a:lstStyle/>
          <a:p>
            <a:r>
              <a:rPr lang="ko-KR" altLang="en-US" sz="2000" dirty="0">
                <a:solidFill>
                  <a:schemeClr val="tx2"/>
                </a:solidFill>
              </a:rPr>
              <a:t>기능 </a:t>
            </a:r>
            <a:r>
              <a:rPr lang="en-US" altLang="ko-KR" sz="2000" dirty="0">
                <a:solidFill>
                  <a:schemeClr val="tx2"/>
                </a:solidFill>
              </a:rPr>
              <a:t>-</a:t>
            </a:r>
            <a:r>
              <a:rPr lang="ko-KR" altLang="en-US" sz="2000" dirty="0">
                <a:solidFill>
                  <a:schemeClr val="tx2"/>
                </a:solidFill>
              </a:rPr>
              <a:t> </a:t>
            </a:r>
            <a:r>
              <a:rPr lang="en-US" altLang="ko-KR" sz="2000" dirty="0">
                <a:solidFill>
                  <a:schemeClr val="tx2"/>
                </a:solidFill>
              </a:rPr>
              <a:t>1. Edge System(Python </a:t>
            </a:r>
            <a:r>
              <a:rPr lang="ko-KR" altLang="en-US" sz="2000" dirty="0">
                <a:solidFill>
                  <a:schemeClr val="tx2"/>
                </a:solidFill>
              </a:rPr>
              <a:t>기반</a:t>
            </a:r>
            <a:r>
              <a:rPr lang="en-US" altLang="ko-KR" sz="2000" dirty="0">
                <a:solidFill>
                  <a:schemeClr val="tx2"/>
                </a:solidFill>
              </a:rPr>
              <a:t>, </a:t>
            </a:r>
            <a:r>
              <a:rPr lang="ko-KR" altLang="en-US" sz="2000" dirty="0">
                <a:solidFill>
                  <a:schemeClr val="tx2"/>
                </a:solidFill>
              </a:rPr>
              <a:t>공통</a:t>
            </a:r>
            <a:r>
              <a:rPr lang="en-US" altLang="ko-KR" sz="2000" dirty="0">
                <a:solidFill>
                  <a:schemeClr val="tx2"/>
                </a:solidFill>
              </a:rPr>
              <a:t>)</a:t>
            </a:r>
            <a:endParaRPr kumimoji="1" lang="ko-KR" altLang="en-US" dirty="0"/>
          </a:p>
        </p:txBody>
      </p:sp>
      <p:sp>
        <p:nvSpPr>
          <p:cNvPr id="11" name="내용 개체 틀 3">
            <a:extLst>
              <a:ext uri="{FF2B5EF4-FFF2-40B4-BE49-F238E27FC236}">
                <a16:creationId xmlns:a16="http://schemas.microsoft.com/office/drawing/2014/main" id="{ACCB36D9-586F-F52E-70DB-55ACD54B7FC6}"/>
              </a:ext>
            </a:extLst>
          </p:cNvPr>
          <p:cNvSpPr txBox="1">
            <a:spLocks/>
          </p:cNvSpPr>
          <p:nvPr/>
        </p:nvSpPr>
        <p:spPr>
          <a:xfrm>
            <a:off x="665660" y="1263799"/>
            <a:ext cx="4309110" cy="6412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>
              <a:defRPr sz="1050" b="0" i="0">
                <a:solidFill>
                  <a:schemeClr val="bg1"/>
                </a:solidFill>
                <a:latin typeface="Consolas"/>
                <a:ea typeface="+mn-ea"/>
                <a:cs typeface="Consola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marL="12065" latinLnBrk="0">
              <a:spcBef>
                <a:spcPts val="105"/>
              </a:spcBef>
              <a:tabLst>
                <a:tab pos="299720" algn="l"/>
              </a:tabLst>
            </a:pPr>
            <a:r>
              <a:rPr lang="en-US" altLang="ko-KR" sz="1400" kern="0" spc="-5" dirty="0">
                <a:solidFill>
                  <a:srgbClr val="558ED5"/>
                </a:solidFill>
                <a:latin typeface="+mn-ea"/>
                <a:cs typeface="Malgun Gothic"/>
              </a:rPr>
              <a:t>1-4. </a:t>
            </a:r>
            <a:r>
              <a:rPr lang="ko-KR" altLang="en-US" sz="1400" kern="0" spc="-5" dirty="0">
                <a:solidFill>
                  <a:srgbClr val="558ED5"/>
                </a:solidFill>
                <a:latin typeface="+mn-ea"/>
                <a:cs typeface="Malgun Gothic"/>
              </a:rPr>
              <a:t>게시를 위한 </a:t>
            </a:r>
            <a:r>
              <a:rPr lang="en" altLang="ko-KR" sz="1400" kern="0" spc="-5" dirty="0">
                <a:solidFill>
                  <a:srgbClr val="558ED5"/>
                </a:solidFill>
                <a:latin typeface="+mn-ea"/>
                <a:cs typeface="Malgun Gothic"/>
              </a:rPr>
              <a:t>HTTP Restful API </a:t>
            </a:r>
            <a:r>
              <a:rPr lang="ko-KR" altLang="en-US" sz="1400" kern="0" spc="-5" dirty="0">
                <a:solidFill>
                  <a:srgbClr val="558ED5"/>
                </a:solidFill>
                <a:latin typeface="+mn-ea"/>
                <a:cs typeface="Malgun Gothic"/>
              </a:rPr>
              <a:t>사용</a:t>
            </a:r>
            <a:r>
              <a:rPr lang="en-US" altLang="ko-KR" sz="1400" kern="0" spc="-5" dirty="0">
                <a:solidFill>
                  <a:srgbClr val="558ED5"/>
                </a:solidFill>
                <a:latin typeface="+mn-ea"/>
                <a:cs typeface="Malgun Gothic"/>
              </a:rPr>
              <a:t>(</a:t>
            </a:r>
            <a:r>
              <a:rPr lang="ko-KR" altLang="en-US" sz="1400" kern="0" spc="-5" dirty="0">
                <a:solidFill>
                  <a:srgbClr val="558ED5"/>
                </a:solidFill>
                <a:latin typeface="+mn-ea"/>
                <a:cs typeface="Malgun Gothic"/>
              </a:rPr>
              <a:t>공통</a:t>
            </a:r>
            <a:r>
              <a:rPr lang="en-US" altLang="ko-KR" sz="1400" kern="0" spc="-5" dirty="0">
                <a:solidFill>
                  <a:srgbClr val="558ED5"/>
                </a:solidFill>
                <a:latin typeface="+mn-ea"/>
                <a:cs typeface="Malgun Gothic"/>
              </a:rPr>
              <a:t>)</a:t>
            </a:r>
            <a:endParaRPr lang="ko-KR" altLang="en-US" sz="1400" b="1" kern="0" spc="-5" dirty="0">
              <a:solidFill>
                <a:srgbClr val="558ED5"/>
              </a:solidFill>
              <a:latin typeface="+mn-ea"/>
              <a:cs typeface="Malgun Gothic"/>
            </a:endParaRPr>
          </a:p>
          <a:p>
            <a:pPr marL="233680" indent="-287655" latinLnBrk="0">
              <a:spcBef>
                <a:spcPts val="1440"/>
              </a:spcBef>
              <a:buFontTx/>
              <a:buChar char="-"/>
              <a:tabLst>
                <a:tab pos="690880" algn="l"/>
                <a:tab pos="691515" algn="l"/>
              </a:tabLst>
            </a:pPr>
            <a:endParaRPr lang="ko-KR" altLang="en-US" sz="800" kern="0" dirty="0">
              <a:latin typeface="+mn-ea"/>
              <a:cs typeface="Gulim"/>
            </a:endParaRPr>
          </a:p>
          <a:p>
            <a:pPr latinLnBrk="0"/>
            <a:endParaRPr kumimoji="1" lang="ko-KR" altLang="en-US" sz="800" kern="0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817DFA5-62AB-70DA-241B-8AD8399DD7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660" y="1691305"/>
            <a:ext cx="2610940" cy="263275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9CA1B02-A748-FB06-7878-773B24415D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5200" y="1905000"/>
            <a:ext cx="3794679" cy="18696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52641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D8B0C2-7071-927C-C28B-D48892329F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233B1E0-DCA4-6B53-3ABD-B5A49F1DF5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4040" y="609888"/>
            <a:ext cx="8757919" cy="307777"/>
          </a:xfrm>
        </p:spPr>
        <p:txBody>
          <a:bodyPr/>
          <a:lstStyle/>
          <a:p>
            <a:r>
              <a:rPr lang="ko-KR" altLang="en-US" sz="2000" dirty="0">
                <a:solidFill>
                  <a:schemeClr val="tx2"/>
                </a:solidFill>
              </a:rPr>
              <a:t>기능 </a:t>
            </a:r>
            <a:r>
              <a:rPr lang="en-US" altLang="ko-KR" sz="2000" dirty="0">
                <a:solidFill>
                  <a:schemeClr val="tx2"/>
                </a:solidFill>
              </a:rPr>
              <a:t>-</a:t>
            </a:r>
            <a:r>
              <a:rPr lang="ko-KR" altLang="en-US" sz="2000" dirty="0">
                <a:solidFill>
                  <a:schemeClr val="tx2"/>
                </a:solidFill>
              </a:rPr>
              <a:t> </a:t>
            </a:r>
            <a:r>
              <a:rPr lang="en-US" altLang="ko-KR" sz="2000" dirty="0">
                <a:solidFill>
                  <a:schemeClr val="tx2"/>
                </a:solidFill>
              </a:rPr>
              <a:t>2. Service System(Python, Django </a:t>
            </a:r>
            <a:r>
              <a:rPr lang="ko-KR" altLang="en-US" sz="2000" dirty="0">
                <a:solidFill>
                  <a:schemeClr val="tx2"/>
                </a:solidFill>
              </a:rPr>
              <a:t>기반</a:t>
            </a:r>
            <a:r>
              <a:rPr lang="en-US" altLang="ko-KR" sz="2000" dirty="0">
                <a:solidFill>
                  <a:schemeClr val="tx2"/>
                </a:solidFill>
              </a:rPr>
              <a:t>)</a:t>
            </a:r>
            <a:endParaRPr kumimoji="1"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A223D7F-C36C-107B-7BF2-246DBF4E41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95300" y="1143000"/>
            <a:ext cx="4309110" cy="641201"/>
          </a:xfrm>
        </p:spPr>
        <p:txBody>
          <a:bodyPr/>
          <a:lstStyle/>
          <a:p>
            <a:pPr marL="12065">
              <a:lnSpc>
                <a:spcPct val="100000"/>
              </a:lnSpc>
              <a:spcBef>
                <a:spcPts val="105"/>
              </a:spcBef>
              <a:tabLst>
                <a:tab pos="299720" algn="l"/>
              </a:tabLst>
            </a:pPr>
            <a:r>
              <a:rPr lang="en-US" altLang="ko-KR" sz="1400" spc="-5" dirty="0">
                <a:solidFill>
                  <a:srgbClr val="558ED5"/>
                </a:solidFill>
                <a:latin typeface="+mn-ea"/>
                <a:cs typeface="Malgun Gothic"/>
              </a:rPr>
              <a:t>2-1. </a:t>
            </a:r>
            <a:r>
              <a:rPr lang="ko-KR" altLang="en-US" sz="1400" spc="-5" dirty="0">
                <a:solidFill>
                  <a:srgbClr val="558ED5"/>
                </a:solidFill>
                <a:latin typeface="+mn-ea"/>
                <a:cs typeface="Malgun Gothic"/>
              </a:rPr>
              <a:t>사용자 보안 기능</a:t>
            </a:r>
            <a:r>
              <a:rPr lang="en-US" altLang="ko-KR" sz="1400" spc="-5" dirty="0">
                <a:solidFill>
                  <a:srgbClr val="558ED5"/>
                </a:solidFill>
                <a:latin typeface="+mn-ea"/>
                <a:cs typeface="Malgun Gothic"/>
              </a:rPr>
              <a:t>(</a:t>
            </a:r>
            <a:r>
              <a:rPr lang="ko-KR" altLang="en-US" sz="1400" spc="-5" dirty="0">
                <a:solidFill>
                  <a:srgbClr val="558ED5"/>
                </a:solidFill>
                <a:latin typeface="+mn-ea"/>
                <a:cs typeface="Malgun Gothic"/>
              </a:rPr>
              <a:t>보안키를 이용한 로그인</a:t>
            </a:r>
            <a:r>
              <a:rPr lang="en-US" altLang="ko-KR" sz="1400" spc="-5" dirty="0">
                <a:solidFill>
                  <a:srgbClr val="558ED5"/>
                </a:solidFill>
                <a:latin typeface="+mn-ea"/>
                <a:cs typeface="Malgun Gothic"/>
              </a:rPr>
              <a:t>, </a:t>
            </a:r>
            <a:r>
              <a:rPr lang="ko-KR" altLang="en-US" sz="1400" spc="-5" dirty="0">
                <a:solidFill>
                  <a:srgbClr val="558ED5"/>
                </a:solidFill>
                <a:latin typeface="+mn-ea"/>
                <a:cs typeface="Malgun Gothic"/>
              </a:rPr>
              <a:t>공통</a:t>
            </a:r>
            <a:r>
              <a:rPr lang="en-US" altLang="ko-KR" sz="1400" spc="-5" dirty="0">
                <a:solidFill>
                  <a:srgbClr val="558ED5"/>
                </a:solidFill>
                <a:latin typeface="+mn-ea"/>
                <a:cs typeface="Malgun Gothic"/>
              </a:rPr>
              <a:t>)</a:t>
            </a:r>
            <a:endParaRPr lang="ko-KR" altLang="en-US" sz="1400" i="1" dirty="0">
              <a:solidFill>
                <a:srgbClr val="FF0000"/>
              </a:solidFill>
              <a:latin typeface="+mn-ea"/>
              <a:cs typeface="Malgun Gothic"/>
            </a:endParaRPr>
          </a:p>
          <a:p>
            <a:pPr marL="233680" indent="-287655">
              <a:spcBef>
                <a:spcPts val="1440"/>
              </a:spcBef>
              <a:buChar char="-"/>
              <a:tabLst>
                <a:tab pos="690880" algn="l"/>
                <a:tab pos="691515" algn="l"/>
              </a:tabLst>
            </a:pPr>
            <a:endParaRPr lang="ko-KR" altLang="en-US" sz="800" dirty="0">
              <a:latin typeface="+mn-ea"/>
              <a:cs typeface="Gulim"/>
            </a:endParaRPr>
          </a:p>
          <a:p>
            <a:endParaRPr kumimoji="1" lang="ko-KR" altLang="en-US" sz="800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5A5ACAD-B866-53DA-94B5-BBFD3F1C41A1}"/>
              </a:ext>
            </a:extLst>
          </p:cNvPr>
          <p:cNvSpPr>
            <a:spLocks noGrp="1"/>
          </p:cNvSpPr>
          <p:nvPr>
            <p:ph sz="half" idx="3"/>
          </p:nvPr>
        </p:nvSpPr>
        <p:spPr>
          <a:xfrm>
            <a:off x="5101590" y="1143000"/>
            <a:ext cx="4956810" cy="1084912"/>
          </a:xfrm>
        </p:spPr>
        <p:txBody>
          <a:bodyPr/>
          <a:lstStyle/>
          <a:p>
            <a:pPr marL="12065">
              <a:lnSpc>
                <a:spcPct val="100000"/>
              </a:lnSpc>
              <a:spcBef>
                <a:spcPts val="105"/>
              </a:spcBef>
              <a:tabLst>
                <a:tab pos="299720" algn="l"/>
              </a:tabLst>
            </a:pPr>
            <a:r>
              <a:rPr lang="en" altLang="ko-KR" sz="1400" spc="-5" dirty="0">
                <a:solidFill>
                  <a:srgbClr val="558ED5"/>
                </a:solidFill>
                <a:latin typeface="+mn-ea"/>
                <a:cs typeface="Malgun Gothic"/>
              </a:rPr>
              <a:t>2-2. Image Blog </a:t>
            </a:r>
            <a:r>
              <a:rPr lang="ko-KR" altLang="en-US" sz="1400" spc="-5" dirty="0">
                <a:solidFill>
                  <a:srgbClr val="558ED5"/>
                </a:solidFill>
                <a:latin typeface="+mn-ea"/>
                <a:cs typeface="Malgun Gothic"/>
              </a:rPr>
              <a:t>및 관리 기능</a:t>
            </a:r>
            <a:r>
              <a:rPr lang="en-US" altLang="ko-KR" sz="1400" spc="-5" dirty="0">
                <a:solidFill>
                  <a:srgbClr val="558ED5"/>
                </a:solidFill>
                <a:latin typeface="+mn-ea"/>
                <a:cs typeface="Malgun Gothic"/>
              </a:rPr>
              <a:t>(</a:t>
            </a:r>
            <a:r>
              <a:rPr lang="ko-KR" altLang="en-US" sz="1400" spc="-5" dirty="0">
                <a:solidFill>
                  <a:srgbClr val="558ED5"/>
                </a:solidFill>
                <a:latin typeface="+mn-ea"/>
                <a:cs typeface="Malgun Gothic"/>
              </a:rPr>
              <a:t>공통</a:t>
            </a:r>
            <a:r>
              <a:rPr lang="en-US" altLang="ko-KR" sz="1400" spc="-5" dirty="0">
                <a:solidFill>
                  <a:srgbClr val="558ED5"/>
                </a:solidFill>
                <a:latin typeface="+mn-ea"/>
                <a:cs typeface="Malgun Gothic"/>
              </a:rPr>
              <a:t>, </a:t>
            </a:r>
            <a:r>
              <a:rPr lang="ko-KR" altLang="en-US" sz="1400" spc="-5" dirty="0">
                <a:solidFill>
                  <a:srgbClr val="558ED5"/>
                </a:solidFill>
                <a:latin typeface="+mn-ea"/>
                <a:cs typeface="Malgun Gothic"/>
              </a:rPr>
              <a:t>일부 확장 기능 가능</a:t>
            </a:r>
            <a:r>
              <a:rPr lang="en-US" altLang="ko-KR" sz="1400" spc="-5" dirty="0">
                <a:solidFill>
                  <a:srgbClr val="558ED5"/>
                </a:solidFill>
                <a:latin typeface="+mn-ea"/>
                <a:cs typeface="Malgun Gothic"/>
              </a:rPr>
              <a:t>)</a:t>
            </a:r>
            <a:endParaRPr lang="ko-KR" altLang="en-US" sz="1400" b="1" spc="-5" dirty="0">
              <a:solidFill>
                <a:srgbClr val="558ED5"/>
              </a:solidFill>
              <a:latin typeface="+mn-ea"/>
              <a:cs typeface="Malgun Gothic"/>
            </a:endParaRPr>
          </a:p>
          <a:p>
            <a:pPr marL="299085" indent="-287020">
              <a:lnSpc>
                <a:spcPct val="100000"/>
              </a:lnSpc>
              <a:spcBef>
                <a:spcPts val="105"/>
              </a:spcBef>
              <a:buFont typeface="Wingdings"/>
              <a:buChar char=""/>
              <a:tabLst>
                <a:tab pos="299720" algn="l"/>
              </a:tabLst>
            </a:pPr>
            <a:endParaRPr lang="ko-KR" altLang="en-US" sz="1400" i="1" dirty="0">
              <a:solidFill>
                <a:srgbClr val="FF0000"/>
              </a:solidFill>
              <a:latin typeface="+mn-ea"/>
              <a:cs typeface="Malgun Gothic"/>
            </a:endParaRPr>
          </a:p>
          <a:p>
            <a:pPr marL="233680" indent="-287655">
              <a:spcBef>
                <a:spcPts val="1440"/>
              </a:spcBef>
              <a:buChar char="-"/>
              <a:tabLst>
                <a:tab pos="690880" algn="l"/>
                <a:tab pos="691515" algn="l"/>
              </a:tabLst>
            </a:pPr>
            <a:endParaRPr lang="ko-KR" altLang="en-US" sz="800" dirty="0">
              <a:latin typeface="+mn-ea"/>
              <a:cs typeface="Gulim"/>
            </a:endParaRPr>
          </a:p>
          <a:p>
            <a:endParaRPr kumimoji="1" lang="ko-KR" altLang="en-US" sz="800" dirty="0"/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21701398-9CCD-B812-1428-A0D01599FD8A}"/>
              </a:ext>
            </a:extLst>
          </p:cNvPr>
          <p:cNvSpPr txBox="1">
            <a:spLocks/>
          </p:cNvSpPr>
          <p:nvPr/>
        </p:nvSpPr>
        <p:spPr>
          <a:xfrm>
            <a:off x="574040" y="3190960"/>
            <a:ext cx="4309110" cy="86946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>
              <a:defRPr sz="1050" b="0" i="0">
                <a:solidFill>
                  <a:schemeClr val="bg1"/>
                </a:solidFill>
                <a:latin typeface="Consolas"/>
                <a:ea typeface="+mn-ea"/>
                <a:cs typeface="Consola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marL="12065" latinLnBrk="0">
              <a:spcBef>
                <a:spcPts val="105"/>
              </a:spcBef>
              <a:tabLst>
                <a:tab pos="299720" algn="l"/>
              </a:tabLst>
            </a:pPr>
            <a:r>
              <a:rPr lang="en-US" altLang="ko-KR" sz="1400" kern="0" spc="-5" dirty="0">
                <a:solidFill>
                  <a:srgbClr val="558ED5"/>
                </a:solidFill>
                <a:latin typeface="+mn-ea"/>
                <a:cs typeface="Malgun Gothic"/>
              </a:rPr>
              <a:t>2-3. </a:t>
            </a:r>
            <a:r>
              <a:rPr lang="ko-KR" altLang="en-US" sz="1400" kern="0" spc="-5" dirty="0">
                <a:solidFill>
                  <a:srgbClr val="558ED5"/>
                </a:solidFill>
                <a:latin typeface="+mn-ea"/>
                <a:cs typeface="Malgun Gothic"/>
              </a:rPr>
              <a:t>게시를 위한 </a:t>
            </a:r>
            <a:r>
              <a:rPr lang="en-US" altLang="ko-KR" sz="1400" kern="0" spc="-5" dirty="0">
                <a:solidFill>
                  <a:srgbClr val="558ED5"/>
                </a:solidFill>
                <a:latin typeface="+mn-ea"/>
                <a:cs typeface="Malgun Gothic"/>
              </a:rPr>
              <a:t>HTTP Restful API </a:t>
            </a:r>
            <a:r>
              <a:rPr lang="ko-KR" altLang="en-US" sz="1400" kern="0" spc="-5" dirty="0">
                <a:solidFill>
                  <a:srgbClr val="558ED5"/>
                </a:solidFill>
                <a:latin typeface="+mn-ea"/>
                <a:cs typeface="Malgun Gothic"/>
              </a:rPr>
              <a:t>제공</a:t>
            </a:r>
            <a:r>
              <a:rPr lang="en-US" altLang="ko-KR" sz="1400" kern="0" spc="-5" dirty="0">
                <a:solidFill>
                  <a:srgbClr val="558ED5"/>
                </a:solidFill>
                <a:latin typeface="+mn-ea"/>
                <a:cs typeface="Malgun Gothic"/>
              </a:rPr>
              <a:t>(</a:t>
            </a:r>
            <a:r>
              <a:rPr lang="ko-KR" altLang="en-US" sz="1400" kern="0" spc="-5" dirty="0">
                <a:solidFill>
                  <a:srgbClr val="558ED5"/>
                </a:solidFill>
                <a:latin typeface="+mn-ea"/>
                <a:cs typeface="Malgun Gothic"/>
              </a:rPr>
              <a:t>공통</a:t>
            </a:r>
            <a:r>
              <a:rPr lang="en-US" altLang="ko-KR" sz="1400" kern="0" spc="-5" dirty="0">
                <a:solidFill>
                  <a:srgbClr val="558ED5"/>
                </a:solidFill>
                <a:latin typeface="+mn-ea"/>
                <a:cs typeface="Malgun Gothic"/>
              </a:rPr>
              <a:t>)</a:t>
            </a:r>
          </a:p>
          <a:p>
            <a:pPr marL="12065" latinLnBrk="0">
              <a:spcBef>
                <a:spcPts val="105"/>
              </a:spcBef>
              <a:tabLst>
                <a:tab pos="299720" algn="l"/>
              </a:tabLst>
            </a:pPr>
            <a:endParaRPr lang="ko-KR" altLang="en-US" sz="1400" i="1" kern="0" dirty="0">
              <a:solidFill>
                <a:srgbClr val="FF0000"/>
              </a:solidFill>
              <a:latin typeface="+mn-ea"/>
              <a:cs typeface="Malgun Gothic"/>
            </a:endParaRPr>
          </a:p>
          <a:p>
            <a:pPr marL="233680" indent="-287655" latinLnBrk="0">
              <a:spcBef>
                <a:spcPts val="1440"/>
              </a:spcBef>
              <a:buFontTx/>
              <a:buChar char="-"/>
              <a:tabLst>
                <a:tab pos="690880" algn="l"/>
                <a:tab pos="691515" algn="l"/>
              </a:tabLst>
            </a:pPr>
            <a:endParaRPr lang="ko-KR" altLang="en-US" sz="800" kern="0" dirty="0">
              <a:latin typeface="+mn-ea"/>
              <a:cs typeface="Gulim"/>
            </a:endParaRPr>
          </a:p>
          <a:p>
            <a:pPr latinLnBrk="0"/>
            <a:endParaRPr kumimoji="1" lang="ko-KR" altLang="en-US" sz="800" kern="0" dirty="0"/>
          </a:p>
        </p:txBody>
      </p:sp>
      <p:sp>
        <p:nvSpPr>
          <p:cNvPr id="6" name="내용 개체 틀 3">
            <a:extLst>
              <a:ext uri="{FF2B5EF4-FFF2-40B4-BE49-F238E27FC236}">
                <a16:creationId xmlns:a16="http://schemas.microsoft.com/office/drawing/2014/main" id="{A4BEBBAE-61C7-CA37-64BE-8E9F5E4C5900}"/>
              </a:ext>
            </a:extLst>
          </p:cNvPr>
          <p:cNvSpPr txBox="1">
            <a:spLocks/>
          </p:cNvSpPr>
          <p:nvPr/>
        </p:nvSpPr>
        <p:spPr>
          <a:xfrm>
            <a:off x="5148170" y="6075735"/>
            <a:ext cx="3083001" cy="7822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>
              <a:defRPr sz="1050" b="0" i="0">
                <a:solidFill>
                  <a:schemeClr val="bg1"/>
                </a:solidFill>
                <a:latin typeface="Consolas"/>
                <a:ea typeface="+mn-ea"/>
                <a:cs typeface="Consola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marL="12065" latinLnBrk="0">
              <a:spcBef>
                <a:spcPts val="105"/>
              </a:spcBef>
              <a:tabLst>
                <a:tab pos="299720" algn="l"/>
              </a:tabLst>
            </a:pPr>
            <a:r>
              <a:rPr lang="en-US" altLang="ko-KR" sz="1400" kern="0" spc="-5" dirty="0">
                <a:solidFill>
                  <a:srgbClr val="558ED5"/>
                </a:solidFill>
                <a:latin typeface="+mn-ea"/>
                <a:cs typeface="Malgun Gothic"/>
              </a:rPr>
              <a:t>2-4. Image </a:t>
            </a:r>
            <a:r>
              <a:rPr lang="ko-KR" altLang="en-US" sz="1400" kern="0" spc="-5" dirty="0">
                <a:solidFill>
                  <a:srgbClr val="558ED5"/>
                </a:solidFill>
                <a:latin typeface="+mn-ea"/>
                <a:cs typeface="Malgun Gothic"/>
              </a:rPr>
              <a:t>목록</a:t>
            </a:r>
            <a:r>
              <a:rPr lang="en-US" altLang="ko-KR" sz="1400" kern="0" spc="-5" dirty="0">
                <a:solidFill>
                  <a:srgbClr val="558ED5"/>
                </a:solidFill>
                <a:latin typeface="+mn-ea"/>
                <a:cs typeface="Malgun Gothic"/>
              </a:rPr>
              <a:t>, </a:t>
            </a:r>
            <a:r>
              <a:rPr lang="ko-KR" altLang="en-US" sz="1400" kern="0" spc="-5" dirty="0">
                <a:solidFill>
                  <a:srgbClr val="558ED5"/>
                </a:solidFill>
                <a:latin typeface="+mn-ea"/>
                <a:cs typeface="Malgun Gothic"/>
              </a:rPr>
              <a:t>획득을 위한 </a:t>
            </a:r>
            <a:r>
              <a:rPr lang="en-US" altLang="ko-KR" sz="1400" kern="0" spc="-5" dirty="0">
                <a:solidFill>
                  <a:srgbClr val="558ED5"/>
                </a:solidFill>
                <a:latin typeface="+mn-ea"/>
                <a:cs typeface="Malgun Gothic"/>
              </a:rPr>
              <a:t>HTTP </a:t>
            </a:r>
            <a:r>
              <a:rPr lang="en-US" altLang="ko-KR" sz="1400" kern="0" spc="-5" dirty="0" err="1">
                <a:solidFill>
                  <a:srgbClr val="558ED5"/>
                </a:solidFill>
                <a:latin typeface="+mn-ea"/>
                <a:cs typeface="Malgun Gothic"/>
              </a:rPr>
              <a:t>Restfull</a:t>
            </a:r>
            <a:r>
              <a:rPr lang="en-US" altLang="ko-KR" sz="1400" kern="0" spc="-5" dirty="0">
                <a:solidFill>
                  <a:srgbClr val="558ED5"/>
                </a:solidFill>
                <a:latin typeface="+mn-ea"/>
                <a:cs typeface="Malgun Gothic"/>
              </a:rPr>
              <a:t> API </a:t>
            </a:r>
            <a:r>
              <a:rPr lang="ko-KR" altLang="en-US" sz="1400" kern="0" spc="-5" dirty="0">
                <a:solidFill>
                  <a:srgbClr val="558ED5"/>
                </a:solidFill>
                <a:latin typeface="+mn-ea"/>
                <a:cs typeface="Malgun Gothic"/>
              </a:rPr>
              <a:t>제공</a:t>
            </a:r>
            <a:r>
              <a:rPr lang="en-US" altLang="ko-KR" sz="1400" kern="0" spc="-5" dirty="0">
                <a:solidFill>
                  <a:srgbClr val="558ED5"/>
                </a:solidFill>
                <a:latin typeface="+mn-ea"/>
                <a:cs typeface="Malgun Gothic"/>
              </a:rPr>
              <a:t>(</a:t>
            </a:r>
            <a:r>
              <a:rPr lang="ko-KR" altLang="en-US" sz="1400" kern="0" spc="-5" dirty="0">
                <a:solidFill>
                  <a:srgbClr val="558ED5"/>
                </a:solidFill>
                <a:latin typeface="+mn-ea"/>
                <a:cs typeface="Malgun Gothic"/>
              </a:rPr>
              <a:t>신규 추가 필요</a:t>
            </a:r>
            <a:r>
              <a:rPr lang="en-US" altLang="ko-KR" sz="1400" kern="0" spc="-5" dirty="0">
                <a:solidFill>
                  <a:srgbClr val="558ED5"/>
                </a:solidFill>
                <a:latin typeface="+mn-ea"/>
                <a:cs typeface="Malgun Gothic"/>
              </a:rPr>
              <a:t>)</a:t>
            </a:r>
            <a:endParaRPr lang="ko-KR" altLang="en-US" sz="1400" b="1" kern="0" spc="-5" dirty="0">
              <a:solidFill>
                <a:srgbClr val="558ED5"/>
              </a:solidFill>
              <a:latin typeface="+mn-ea"/>
              <a:cs typeface="Malgun Gothic"/>
            </a:endParaRPr>
          </a:p>
          <a:p>
            <a:pPr marL="299085" indent="-287020" latinLnBrk="0">
              <a:spcBef>
                <a:spcPts val="105"/>
              </a:spcBef>
              <a:buFont typeface="Wingdings"/>
              <a:buChar char=""/>
              <a:tabLst>
                <a:tab pos="299720" algn="l"/>
              </a:tabLst>
            </a:pPr>
            <a:endParaRPr lang="ko-KR" altLang="en-US" sz="1400" i="1" kern="0" dirty="0">
              <a:solidFill>
                <a:srgbClr val="FF0000"/>
              </a:solidFill>
              <a:latin typeface="+mn-ea"/>
              <a:cs typeface="Malgun Gothic"/>
            </a:endParaRPr>
          </a:p>
          <a:p>
            <a:pPr latinLnBrk="0"/>
            <a:endParaRPr kumimoji="1" lang="ko-KR" altLang="en-US" sz="800" kern="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426AA2F-C870-7ED4-6B9A-A381266176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31171" y="3461657"/>
            <a:ext cx="1488805" cy="324915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ADA6C73-D459-39BD-0A9D-437377CFA1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440" y="3461657"/>
            <a:ext cx="3312160" cy="295552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AFEB20F-1A44-F2AD-3AE7-48910C61EF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150" y="1375763"/>
            <a:ext cx="4572000" cy="81687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9F1A584-C102-A47D-DEA2-D15F9BFE679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77287" y="1375763"/>
            <a:ext cx="2381519" cy="39554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44148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CFE62A-AC32-2ED9-4DBE-05890A2ADC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D439ED4A-3371-48A2-E596-949EF2C8D9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416583"/>
            <a:ext cx="4241421" cy="1816787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6C97AD99-E4F7-2C66-1881-6248595FED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4040" y="609888"/>
            <a:ext cx="8757919" cy="307777"/>
          </a:xfrm>
        </p:spPr>
        <p:txBody>
          <a:bodyPr/>
          <a:lstStyle/>
          <a:p>
            <a:r>
              <a:rPr lang="ko-KR" altLang="en-US" sz="2000" dirty="0">
                <a:solidFill>
                  <a:schemeClr val="tx2"/>
                </a:solidFill>
              </a:rPr>
              <a:t>기능 </a:t>
            </a:r>
            <a:r>
              <a:rPr lang="en-US" altLang="ko-KR" sz="2000" dirty="0">
                <a:solidFill>
                  <a:schemeClr val="tx2"/>
                </a:solidFill>
              </a:rPr>
              <a:t>-</a:t>
            </a:r>
            <a:r>
              <a:rPr lang="ko-KR" altLang="en-US" sz="2000" dirty="0">
                <a:solidFill>
                  <a:schemeClr val="tx2"/>
                </a:solidFill>
              </a:rPr>
              <a:t> </a:t>
            </a:r>
            <a:r>
              <a:rPr lang="en-US" altLang="ko-KR" sz="2000" dirty="0">
                <a:solidFill>
                  <a:schemeClr val="tx2"/>
                </a:solidFill>
              </a:rPr>
              <a:t>2. Service System(Python, Django </a:t>
            </a:r>
            <a:r>
              <a:rPr lang="ko-KR" altLang="en-US" sz="2000" dirty="0">
                <a:solidFill>
                  <a:schemeClr val="tx2"/>
                </a:solidFill>
              </a:rPr>
              <a:t>기반</a:t>
            </a:r>
            <a:r>
              <a:rPr lang="en-US" altLang="ko-KR" sz="2000" dirty="0">
                <a:solidFill>
                  <a:schemeClr val="tx2"/>
                </a:solidFill>
              </a:rPr>
              <a:t>)</a:t>
            </a:r>
            <a:endParaRPr kumimoji="1"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51DB4F-A935-0D3C-1AE9-A8BE88D1DC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95300" y="1143000"/>
            <a:ext cx="4309110" cy="474489"/>
          </a:xfrm>
        </p:spPr>
        <p:txBody>
          <a:bodyPr/>
          <a:lstStyle/>
          <a:p>
            <a:pPr marL="12065">
              <a:lnSpc>
                <a:spcPct val="100000"/>
              </a:lnSpc>
              <a:spcBef>
                <a:spcPts val="105"/>
              </a:spcBef>
              <a:tabLst>
                <a:tab pos="299720" algn="l"/>
              </a:tabLst>
            </a:pPr>
            <a:r>
              <a:rPr lang="en-US" altLang="ko-KR" sz="1400" spc="-5" dirty="0">
                <a:solidFill>
                  <a:srgbClr val="558ED5"/>
                </a:solidFill>
                <a:latin typeface="+mn-ea"/>
                <a:cs typeface="Malgun Gothic"/>
              </a:rPr>
              <a:t>2-5. Person Detection Filter</a:t>
            </a:r>
          </a:p>
          <a:p>
            <a:pPr marL="12065">
              <a:lnSpc>
                <a:spcPct val="100000"/>
              </a:lnSpc>
              <a:spcBef>
                <a:spcPts val="105"/>
              </a:spcBef>
              <a:tabLst>
                <a:tab pos="299720" algn="l"/>
              </a:tabLst>
            </a:pPr>
            <a:endParaRPr lang="ko-KR" altLang="en-US" sz="800" dirty="0">
              <a:latin typeface="+mn-ea"/>
              <a:cs typeface="Gulim"/>
            </a:endParaRPr>
          </a:p>
          <a:p>
            <a:endParaRPr kumimoji="1" lang="ko-KR" altLang="en-US" sz="8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C63812A-AB78-C0E8-8F18-56E825EF89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1295400"/>
            <a:ext cx="3505200" cy="1745158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9E2F26EE-BC4C-2B36-15F6-34E6C3C6F7BF}"/>
              </a:ext>
            </a:extLst>
          </p:cNvPr>
          <p:cNvSpPr/>
          <p:nvPr/>
        </p:nvSpPr>
        <p:spPr>
          <a:xfrm>
            <a:off x="3336676" y="1589179"/>
            <a:ext cx="990600" cy="22533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AE0F7BE-1C65-11B9-2B4A-7F730E69AA7B}"/>
              </a:ext>
            </a:extLst>
          </p:cNvPr>
          <p:cNvCxnSpPr>
            <a:cxnSpLocks/>
          </p:cNvCxnSpPr>
          <p:nvPr/>
        </p:nvCxnSpPr>
        <p:spPr>
          <a:xfrm flipV="1">
            <a:off x="3871792" y="1814514"/>
            <a:ext cx="0" cy="3940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7B3C61B6-AEDC-C2C9-146B-DEB2DD3AFE37}"/>
              </a:ext>
            </a:extLst>
          </p:cNvPr>
          <p:cNvSpPr txBox="1"/>
          <p:nvPr/>
        </p:nvSpPr>
        <p:spPr>
          <a:xfrm>
            <a:off x="3330831" y="2112815"/>
            <a:ext cx="11391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Click here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4C1CD381-7FCD-EDAA-F8D1-FC3C38A92741}"/>
              </a:ext>
            </a:extLst>
          </p:cNvPr>
          <p:cNvCxnSpPr>
            <a:cxnSpLocks/>
          </p:cNvCxnSpPr>
          <p:nvPr/>
        </p:nvCxnSpPr>
        <p:spPr>
          <a:xfrm flipV="1">
            <a:off x="4755744" y="1814514"/>
            <a:ext cx="777267" cy="3717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77F40D70-5DB1-281E-B5D4-23BF545E8449}"/>
              </a:ext>
            </a:extLst>
          </p:cNvPr>
          <p:cNvCxnSpPr>
            <a:cxnSpLocks/>
          </p:cNvCxnSpPr>
          <p:nvPr/>
        </p:nvCxnSpPr>
        <p:spPr>
          <a:xfrm>
            <a:off x="4755744" y="2916784"/>
            <a:ext cx="777267" cy="5122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8" name="Picture 27">
            <a:extLst>
              <a:ext uri="{FF2B5EF4-FFF2-40B4-BE49-F238E27FC236}">
                <a16:creationId xmlns:a16="http://schemas.microsoft.com/office/drawing/2014/main" id="{AFEBAE25-91F0-CA14-8B01-884609DEE9C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10200" y="3505200"/>
            <a:ext cx="4038600" cy="2057400"/>
          </a:xfrm>
          <a:prstGeom prst="rect">
            <a:avLst/>
          </a:prstGeom>
        </p:spPr>
      </p:pic>
      <p:sp>
        <p:nvSpPr>
          <p:cNvPr id="29" name="Rectangle 28">
            <a:extLst>
              <a:ext uri="{FF2B5EF4-FFF2-40B4-BE49-F238E27FC236}">
                <a16:creationId xmlns:a16="http://schemas.microsoft.com/office/drawing/2014/main" id="{2E9BB7A3-B438-A0CE-F947-80EE82216C3D}"/>
              </a:ext>
            </a:extLst>
          </p:cNvPr>
          <p:cNvSpPr/>
          <p:nvPr/>
        </p:nvSpPr>
        <p:spPr>
          <a:xfrm>
            <a:off x="6010514" y="1303382"/>
            <a:ext cx="683941" cy="1235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6C53887-654D-AB0A-BBF8-A91937B3E181}"/>
              </a:ext>
            </a:extLst>
          </p:cNvPr>
          <p:cNvSpPr txBox="1"/>
          <p:nvPr/>
        </p:nvSpPr>
        <p:spPr>
          <a:xfrm>
            <a:off x="6248400" y="4238685"/>
            <a:ext cx="37338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Only posts with title=“Person” is displayed. (posts which have high probability that there is actually a person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333C413-6BCF-49A4-4672-EB1DD2161A59}"/>
              </a:ext>
            </a:extLst>
          </p:cNvPr>
          <p:cNvCxnSpPr>
            <a:cxnSpLocks/>
          </p:cNvCxnSpPr>
          <p:nvPr/>
        </p:nvCxnSpPr>
        <p:spPr>
          <a:xfrm flipH="1" flipV="1">
            <a:off x="5715000" y="3962400"/>
            <a:ext cx="533400" cy="533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8644EA20-1EE0-577E-104F-EAE1E20C5F39}"/>
              </a:ext>
            </a:extLst>
          </p:cNvPr>
          <p:cNvCxnSpPr>
            <a:cxnSpLocks/>
            <a:stCxn id="30" idx="1"/>
          </p:cNvCxnSpPr>
          <p:nvPr/>
        </p:nvCxnSpPr>
        <p:spPr>
          <a:xfrm flipH="1" flipV="1">
            <a:off x="5715000" y="4267200"/>
            <a:ext cx="533400" cy="3869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80C6AD19-8DCF-841E-FBB3-7B152B9D3290}"/>
              </a:ext>
            </a:extLst>
          </p:cNvPr>
          <p:cNvCxnSpPr>
            <a:cxnSpLocks/>
          </p:cNvCxnSpPr>
          <p:nvPr/>
        </p:nvCxnSpPr>
        <p:spPr>
          <a:xfrm flipH="1" flipV="1">
            <a:off x="5715000" y="4595233"/>
            <a:ext cx="533400" cy="2402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622BD102-7764-F19C-8F6A-F7FBFE0A6328}"/>
              </a:ext>
            </a:extLst>
          </p:cNvPr>
          <p:cNvCxnSpPr>
            <a:cxnSpLocks/>
          </p:cNvCxnSpPr>
          <p:nvPr/>
        </p:nvCxnSpPr>
        <p:spPr>
          <a:xfrm flipH="1" flipV="1">
            <a:off x="5715000" y="4930469"/>
            <a:ext cx="533400" cy="2253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AC3CF18D-7373-7F3B-ED2F-C035E2DE88FA}"/>
              </a:ext>
            </a:extLst>
          </p:cNvPr>
          <p:cNvCxnSpPr>
            <a:cxnSpLocks/>
          </p:cNvCxnSpPr>
          <p:nvPr/>
        </p:nvCxnSpPr>
        <p:spPr>
          <a:xfrm flipH="1">
            <a:off x="5715000" y="5098197"/>
            <a:ext cx="533400" cy="15960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5E88F209-A4BA-CA3B-9AB2-E324DF248F1C}"/>
              </a:ext>
            </a:extLst>
          </p:cNvPr>
          <p:cNvCxnSpPr>
            <a:cxnSpLocks/>
          </p:cNvCxnSpPr>
          <p:nvPr/>
        </p:nvCxnSpPr>
        <p:spPr>
          <a:xfrm flipH="1">
            <a:off x="5715000" y="5217906"/>
            <a:ext cx="609600" cy="30094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FF17AB22-879A-0A01-DBF5-96A259C353EA}"/>
              </a:ext>
            </a:extLst>
          </p:cNvPr>
          <p:cNvSpPr txBox="1"/>
          <p:nvPr/>
        </p:nvSpPr>
        <p:spPr>
          <a:xfrm>
            <a:off x="381000" y="3883818"/>
            <a:ext cx="46482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Yolo saves a lot of posts into the system due to motions in real life. With this Person Detection Filter, user can skip the unimportant non-human posts, and focus on the person-detected filter</a:t>
            </a:r>
          </a:p>
        </p:txBody>
      </p:sp>
    </p:spTree>
    <p:extLst>
      <p:ext uri="{BB962C8B-B14F-4D97-AF65-F5344CB8AC3E}">
        <p14:creationId xmlns:p14="http://schemas.microsoft.com/office/powerpoint/2010/main" val="15038673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3F4422-BB0D-3E5A-7E5E-14136C8AC9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797A25E-EF9B-015E-ACE8-7A7A35A7BF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4040" y="609888"/>
            <a:ext cx="8757919" cy="307777"/>
          </a:xfrm>
        </p:spPr>
        <p:txBody>
          <a:bodyPr/>
          <a:lstStyle/>
          <a:p>
            <a:r>
              <a:rPr lang="ko-KR" altLang="en-US" sz="2000" dirty="0">
                <a:solidFill>
                  <a:schemeClr val="tx2"/>
                </a:solidFill>
              </a:rPr>
              <a:t>기능 </a:t>
            </a:r>
            <a:r>
              <a:rPr lang="en-US" altLang="ko-KR" sz="2000" dirty="0">
                <a:solidFill>
                  <a:schemeClr val="tx2"/>
                </a:solidFill>
              </a:rPr>
              <a:t>-</a:t>
            </a:r>
            <a:r>
              <a:rPr lang="ko-KR" altLang="en-US" sz="2000" dirty="0">
                <a:solidFill>
                  <a:schemeClr val="tx2"/>
                </a:solidFill>
              </a:rPr>
              <a:t> </a:t>
            </a:r>
            <a:r>
              <a:rPr lang="en-US" altLang="ko-KR" sz="2000" dirty="0">
                <a:solidFill>
                  <a:schemeClr val="tx2"/>
                </a:solidFill>
              </a:rPr>
              <a:t>3. Client System(Android, </a:t>
            </a:r>
            <a:r>
              <a:rPr lang="en-US" altLang="ko-KR" dirty="0">
                <a:solidFill>
                  <a:schemeClr val="tx2"/>
                </a:solidFill>
              </a:rPr>
              <a:t>Java</a:t>
            </a:r>
            <a:r>
              <a:rPr lang="ko-KR" altLang="en-US" dirty="0">
                <a:solidFill>
                  <a:schemeClr val="tx2"/>
                </a:solidFill>
              </a:rPr>
              <a:t>기반</a:t>
            </a:r>
            <a:r>
              <a:rPr lang="en-US" altLang="ko-KR" sz="2000" dirty="0">
                <a:solidFill>
                  <a:schemeClr val="tx2"/>
                </a:solidFill>
              </a:rPr>
              <a:t>, </a:t>
            </a:r>
            <a:r>
              <a:rPr lang="ko-KR" altLang="en-US" sz="2000" dirty="0">
                <a:solidFill>
                  <a:schemeClr val="tx2"/>
                </a:solidFill>
              </a:rPr>
              <a:t>개별 제안</a:t>
            </a:r>
            <a:r>
              <a:rPr lang="en-US" altLang="ko-KR" sz="2000" dirty="0">
                <a:solidFill>
                  <a:schemeClr val="tx2"/>
                </a:solidFill>
              </a:rPr>
              <a:t>)</a:t>
            </a:r>
            <a:endParaRPr kumimoji="1"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A394BAA-EF43-505D-E9D9-DC0027135C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95300" y="1143000"/>
            <a:ext cx="4309110" cy="1597873"/>
          </a:xfrm>
        </p:spPr>
        <p:txBody>
          <a:bodyPr/>
          <a:lstStyle/>
          <a:p>
            <a:pPr marL="12065">
              <a:lnSpc>
                <a:spcPct val="100000"/>
              </a:lnSpc>
              <a:spcBef>
                <a:spcPts val="105"/>
              </a:spcBef>
              <a:tabLst>
                <a:tab pos="299720" algn="l"/>
              </a:tabLst>
            </a:pPr>
            <a:r>
              <a:rPr lang="en-US" altLang="ko-KR" sz="1400" spc="-5" dirty="0">
                <a:solidFill>
                  <a:srgbClr val="558ED5"/>
                </a:solidFill>
                <a:latin typeface="+mn-ea"/>
                <a:cs typeface="Malgun Gothic"/>
              </a:rPr>
              <a:t>3.1. Image list view </a:t>
            </a:r>
            <a:r>
              <a:rPr lang="ko-KR" altLang="en-US" sz="1400" spc="-5" dirty="0">
                <a:solidFill>
                  <a:srgbClr val="558ED5"/>
                </a:solidFill>
                <a:latin typeface="+mn-ea"/>
                <a:cs typeface="Malgun Gothic"/>
              </a:rPr>
              <a:t>기능</a:t>
            </a:r>
            <a:r>
              <a:rPr lang="en-US" altLang="ko-KR" sz="1400" spc="-5" dirty="0">
                <a:solidFill>
                  <a:srgbClr val="558ED5"/>
                </a:solidFill>
                <a:latin typeface="+mn-ea"/>
                <a:cs typeface="Malgun Gothic"/>
              </a:rPr>
              <a:t>(</a:t>
            </a:r>
            <a:r>
              <a:rPr lang="ko-KR" altLang="en-US" sz="1400" spc="-5" dirty="0">
                <a:solidFill>
                  <a:srgbClr val="558ED5"/>
                </a:solidFill>
                <a:latin typeface="+mn-ea"/>
                <a:cs typeface="Malgun Gothic"/>
              </a:rPr>
              <a:t>공통 기능</a:t>
            </a:r>
            <a:r>
              <a:rPr lang="en-US" altLang="ko-KR" sz="1400" spc="-5" dirty="0">
                <a:solidFill>
                  <a:srgbClr val="558ED5"/>
                </a:solidFill>
                <a:latin typeface="+mn-ea"/>
                <a:cs typeface="Malgun Gothic"/>
              </a:rPr>
              <a:t>, </a:t>
            </a:r>
            <a:r>
              <a:rPr lang="ko-KR" altLang="en-US" sz="1400" spc="-5" dirty="0">
                <a:solidFill>
                  <a:srgbClr val="558ED5"/>
                </a:solidFill>
                <a:latin typeface="+mn-ea"/>
                <a:cs typeface="Malgun Gothic"/>
              </a:rPr>
              <a:t>개별 제안</a:t>
            </a:r>
            <a:r>
              <a:rPr lang="en-US" altLang="ko-KR" sz="1400" spc="-5" dirty="0">
                <a:solidFill>
                  <a:srgbClr val="558ED5"/>
                </a:solidFill>
                <a:latin typeface="+mn-ea"/>
                <a:cs typeface="Malgun Gothic"/>
              </a:rPr>
              <a:t>)</a:t>
            </a:r>
          </a:p>
          <a:p>
            <a:pPr marL="12065">
              <a:lnSpc>
                <a:spcPct val="100000"/>
              </a:lnSpc>
              <a:spcBef>
                <a:spcPts val="105"/>
              </a:spcBef>
              <a:tabLst>
                <a:tab pos="299720" algn="l"/>
              </a:tabLst>
            </a:pPr>
            <a:endParaRPr lang="ko-KR" altLang="en-US" sz="1400" i="1" dirty="0">
              <a:solidFill>
                <a:srgbClr val="FF0000"/>
              </a:solidFill>
              <a:latin typeface="+mn-ea"/>
              <a:cs typeface="Malgun Gothic"/>
            </a:endParaRPr>
          </a:p>
          <a:p>
            <a:pPr marL="690880" lvl="1" indent="-287655">
              <a:lnSpc>
                <a:spcPct val="100000"/>
              </a:lnSpc>
              <a:spcBef>
                <a:spcPts val="1440"/>
              </a:spcBef>
              <a:buChar char="-"/>
              <a:tabLst>
                <a:tab pos="690880" algn="l"/>
                <a:tab pos="691515" algn="l"/>
              </a:tabLst>
            </a:pPr>
            <a:r>
              <a:rPr lang="en-US" altLang="ko-KR" sz="1200" i="1" spc="-5" dirty="0">
                <a:solidFill>
                  <a:srgbClr val="FF0000"/>
                </a:solidFill>
                <a:latin typeface="+mn-ea"/>
                <a:cs typeface="Malgun Gothic"/>
              </a:rPr>
              <a:t>(</a:t>
            </a:r>
            <a:r>
              <a:rPr lang="ko-KR" altLang="en-US" sz="1200" i="1" spc="-5" dirty="0">
                <a:solidFill>
                  <a:srgbClr val="FF0000"/>
                </a:solidFill>
                <a:latin typeface="+mn-ea"/>
                <a:cs typeface="Malgun Gothic"/>
              </a:rPr>
              <a:t>간략한 설명</a:t>
            </a:r>
            <a:r>
              <a:rPr lang="en-US" altLang="ko-KR" sz="1200" i="1" spc="-5" dirty="0">
                <a:solidFill>
                  <a:srgbClr val="FF0000"/>
                </a:solidFill>
                <a:latin typeface="+mn-ea"/>
                <a:cs typeface="Malgun Gothic"/>
              </a:rPr>
              <a:t>)</a:t>
            </a:r>
          </a:p>
          <a:p>
            <a:pPr marL="403225" lvl="1">
              <a:lnSpc>
                <a:spcPct val="100000"/>
              </a:lnSpc>
              <a:spcBef>
                <a:spcPts val="1440"/>
              </a:spcBef>
              <a:tabLst>
                <a:tab pos="690880" algn="l"/>
                <a:tab pos="691515" algn="l"/>
              </a:tabLst>
            </a:pPr>
            <a:r>
              <a:rPr lang="en-US" altLang="ko-KR" sz="1200" i="1" spc="-5" dirty="0">
                <a:solidFill>
                  <a:srgbClr val="FF0000"/>
                </a:solidFill>
                <a:latin typeface="+mn-ea"/>
                <a:cs typeface="Malgun Gothic"/>
              </a:rPr>
              <a:t>(</a:t>
            </a:r>
            <a:r>
              <a:rPr lang="ko-KR" altLang="en-US" sz="1200" i="1" spc="-5" dirty="0">
                <a:solidFill>
                  <a:srgbClr val="FF0000"/>
                </a:solidFill>
                <a:latin typeface="+mn-ea"/>
                <a:cs typeface="Malgun Gothic"/>
              </a:rPr>
              <a:t>기능 동작 캡처 화면 제시</a:t>
            </a:r>
            <a:r>
              <a:rPr lang="en-US" altLang="ko-KR" sz="1200" i="1" spc="-5" dirty="0">
                <a:solidFill>
                  <a:srgbClr val="FF0000"/>
                </a:solidFill>
                <a:latin typeface="+mn-ea"/>
                <a:cs typeface="Malgun Gothic"/>
              </a:rPr>
              <a:t>)</a:t>
            </a:r>
            <a:endParaRPr lang="en-US" altLang="ko-KR" sz="1200" dirty="0">
              <a:latin typeface="+mn-ea"/>
              <a:cs typeface="Gulim"/>
            </a:endParaRPr>
          </a:p>
          <a:p>
            <a:pPr marL="233680" indent="-287655">
              <a:spcBef>
                <a:spcPts val="1440"/>
              </a:spcBef>
              <a:buChar char="-"/>
              <a:tabLst>
                <a:tab pos="690880" algn="l"/>
                <a:tab pos="691515" algn="l"/>
              </a:tabLst>
            </a:pPr>
            <a:endParaRPr lang="ko-KR" altLang="en-US" sz="800" dirty="0">
              <a:latin typeface="+mn-ea"/>
              <a:cs typeface="Gulim"/>
            </a:endParaRPr>
          </a:p>
          <a:p>
            <a:endParaRPr kumimoji="1" lang="ko-KR" altLang="en-US" sz="800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750B8A7-7FF0-6EAE-390E-8D3D5A0B7D5F}"/>
              </a:ext>
            </a:extLst>
          </p:cNvPr>
          <p:cNvSpPr>
            <a:spLocks noGrp="1"/>
          </p:cNvSpPr>
          <p:nvPr>
            <p:ph sz="half" idx="3"/>
          </p:nvPr>
        </p:nvSpPr>
        <p:spPr>
          <a:xfrm>
            <a:off x="5101590" y="1143000"/>
            <a:ext cx="4309110" cy="1813317"/>
          </a:xfrm>
        </p:spPr>
        <p:txBody>
          <a:bodyPr/>
          <a:lstStyle/>
          <a:p>
            <a:pPr marL="12065">
              <a:lnSpc>
                <a:spcPct val="100000"/>
              </a:lnSpc>
              <a:spcBef>
                <a:spcPts val="105"/>
              </a:spcBef>
              <a:tabLst>
                <a:tab pos="299720" algn="l"/>
              </a:tabLst>
            </a:pPr>
            <a:r>
              <a:rPr lang="en" altLang="ko-KR" sz="1400" spc="-5" dirty="0">
                <a:solidFill>
                  <a:srgbClr val="558ED5"/>
                </a:solidFill>
                <a:latin typeface="+mn-ea"/>
                <a:cs typeface="Malgun Gothic"/>
              </a:rPr>
              <a:t>3.2. Image </a:t>
            </a:r>
            <a:r>
              <a:rPr lang="ko-KR" altLang="en-US" sz="1400" spc="-5" dirty="0">
                <a:solidFill>
                  <a:srgbClr val="558ED5"/>
                </a:solidFill>
                <a:latin typeface="+mn-ea"/>
                <a:cs typeface="Malgun Gothic"/>
              </a:rPr>
              <a:t>목록</a:t>
            </a:r>
            <a:r>
              <a:rPr lang="en-US" altLang="ko-KR" sz="1400" spc="-5" dirty="0">
                <a:solidFill>
                  <a:srgbClr val="558ED5"/>
                </a:solidFill>
                <a:latin typeface="+mn-ea"/>
                <a:cs typeface="Malgun Gothic"/>
              </a:rPr>
              <a:t>, </a:t>
            </a:r>
            <a:r>
              <a:rPr lang="ko-KR" altLang="en-US" sz="1400" spc="-5" dirty="0">
                <a:solidFill>
                  <a:srgbClr val="558ED5"/>
                </a:solidFill>
                <a:latin typeface="+mn-ea"/>
                <a:cs typeface="Malgun Gothic"/>
              </a:rPr>
              <a:t>획득을 위한 </a:t>
            </a:r>
            <a:r>
              <a:rPr lang="en" altLang="ko-KR" sz="1400" spc="-5" dirty="0">
                <a:solidFill>
                  <a:srgbClr val="558ED5"/>
                </a:solidFill>
                <a:latin typeface="+mn-ea"/>
                <a:cs typeface="Malgun Gothic"/>
              </a:rPr>
              <a:t>HTTP </a:t>
            </a:r>
            <a:r>
              <a:rPr lang="en" altLang="ko-KR" sz="1400" spc="-5" dirty="0" err="1">
                <a:solidFill>
                  <a:srgbClr val="558ED5"/>
                </a:solidFill>
                <a:latin typeface="+mn-ea"/>
                <a:cs typeface="Malgun Gothic"/>
              </a:rPr>
              <a:t>Restfull</a:t>
            </a:r>
            <a:r>
              <a:rPr lang="en" altLang="ko-KR" sz="1400" spc="-5" dirty="0">
                <a:solidFill>
                  <a:srgbClr val="558ED5"/>
                </a:solidFill>
                <a:latin typeface="+mn-ea"/>
                <a:cs typeface="Malgun Gothic"/>
              </a:rPr>
              <a:t> API </a:t>
            </a:r>
            <a:r>
              <a:rPr lang="ko-KR" altLang="en-US" sz="1400" spc="-5" dirty="0">
                <a:solidFill>
                  <a:srgbClr val="558ED5"/>
                </a:solidFill>
                <a:latin typeface="+mn-ea"/>
                <a:cs typeface="Malgun Gothic"/>
              </a:rPr>
              <a:t>사용</a:t>
            </a:r>
            <a:r>
              <a:rPr lang="en-US" altLang="ko-KR" sz="1400" spc="-5" dirty="0">
                <a:solidFill>
                  <a:srgbClr val="558ED5"/>
                </a:solidFill>
                <a:latin typeface="+mn-ea"/>
                <a:cs typeface="Malgun Gothic"/>
              </a:rPr>
              <a:t>(</a:t>
            </a:r>
            <a:r>
              <a:rPr lang="ko-KR" altLang="en-US" sz="1400" spc="-5" dirty="0">
                <a:solidFill>
                  <a:srgbClr val="558ED5"/>
                </a:solidFill>
                <a:latin typeface="+mn-ea"/>
                <a:cs typeface="Malgun Gothic"/>
              </a:rPr>
              <a:t>신규 추가 필요</a:t>
            </a:r>
            <a:r>
              <a:rPr lang="en-US" altLang="ko-KR" sz="1400" spc="-5" dirty="0">
                <a:solidFill>
                  <a:srgbClr val="558ED5"/>
                </a:solidFill>
                <a:latin typeface="+mn-ea"/>
                <a:cs typeface="Malgun Gothic"/>
              </a:rPr>
              <a:t>)</a:t>
            </a:r>
            <a:endParaRPr lang="ko-KR" altLang="en-US" sz="1400" b="1" spc="-5" dirty="0">
              <a:solidFill>
                <a:srgbClr val="558ED5"/>
              </a:solidFill>
              <a:latin typeface="+mn-ea"/>
              <a:cs typeface="Malgun Gothic"/>
            </a:endParaRPr>
          </a:p>
          <a:p>
            <a:pPr marL="299085" indent="-287020">
              <a:lnSpc>
                <a:spcPct val="100000"/>
              </a:lnSpc>
              <a:spcBef>
                <a:spcPts val="105"/>
              </a:spcBef>
              <a:buFont typeface="Wingdings"/>
              <a:buChar char=""/>
              <a:tabLst>
                <a:tab pos="299720" algn="l"/>
              </a:tabLst>
            </a:pPr>
            <a:endParaRPr lang="ko-KR" altLang="en-US" sz="1400" i="1" dirty="0">
              <a:solidFill>
                <a:srgbClr val="FF0000"/>
              </a:solidFill>
              <a:latin typeface="+mn-ea"/>
              <a:cs typeface="Malgun Gothic"/>
            </a:endParaRPr>
          </a:p>
          <a:p>
            <a:pPr marL="690880" lvl="1" indent="-287655">
              <a:lnSpc>
                <a:spcPct val="100000"/>
              </a:lnSpc>
              <a:spcBef>
                <a:spcPts val="1440"/>
              </a:spcBef>
              <a:buChar char="-"/>
              <a:tabLst>
                <a:tab pos="690880" algn="l"/>
                <a:tab pos="691515" algn="l"/>
              </a:tabLst>
            </a:pPr>
            <a:r>
              <a:rPr lang="en-US" altLang="ko-KR" sz="1200" i="1" spc="-5" dirty="0">
                <a:solidFill>
                  <a:srgbClr val="FF0000"/>
                </a:solidFill>
                <a:latin typeface="+mn-ea"/>
                <a:cs typeface="Malgun Gothic"/>
              </a:rPr>
              <a:t>(</a:t>
            </a:r>
            <a:r>
              <a:rPr lang="ko-KR" altLang="en-US" sz="1200" i="1" spc="-5" dirty="0">
                <a:solidFill>
                  <a:srgbClr val="FF0000"/>
                </a:solidFill>
                <a:latin typeface="+mn-ea"/>
                <a:cs typeface="Malgun Gothic"/>
              </a:rPr>
              <a:t>간략한 설명</a:t>
            </a:r>
            <a:r>
              <a:rPr lang="en-US" altLang="ko-KR" sz="1200" i="1" spc="-5" dirty="0">
                <a:solidFill>
                  <a:srgbClr val="FF0000"/>
                </a:solidFill>
                <a:latin typeface="+mn-ea"/>
                <a:cs typeface="Malgun Gothic"/>
              </a:rPr>
              <a:t>)</a:t>
            </a:r>
          </a:p>
          <a:p>
            <a:pPr marL="403225" lvl="1">
              <a:lnSpc>
                <a:spcPct val="100000"/>
              </a:lnSpc>
              <a:spcBef>
                <a:spcPts val="1440"/>
              </a:spcBef>
              <a:tabLst>
                <a:tab pos="690880" algn="l"/>
                <a:tab pos="691515" algn="l"/>
              </a:tabLst>
            </a:pPr>
            <a:r>
              <a:rPr lang="en-US" altLang="ko-KR" sz="1200" i="1" spc="-5" dirty="0">
                <a:solidFill>
                  <a:srgbClr val="FF0000"/>
                </a:solidFill>
                <a:latin typeface="+mn-ea"/>
                <a:cs typeface="Malgun Gothic"/>
              </a:rPr>
              <a:t>(</a:t>
            </a:r>
            <a:r>
              <a:rPr lang="ko-KR" altLang="en-US" sz="1200" i="1" spc="-5" dirty="0">
                <a:solidFill>
                  <a:srgbClr val="FF0000"/>
                </a:solidFill>
                <a:latin typeface="+mn-ea"/>
                <a:cs typeface="Malgun Gothic"/>
              </a:rPr>
              <a:t>기능 동작 캡처 화면 제시</a:t>
            </a:r>
            <a:r>
              <a:rPr lang="en-US" altLang="ko-KR" sz="1200" i="1" spc="-5" dirty="0">
                <a:solidFill>
                  <a:srgbClr val="FF0000"/>
                </a:solidFill>
                <a:latin typeface="+mn-ea"/>
                <a:cs typeface="Malgun Gothic"/>
              </a:rPr>
              <a:t>)</a:t>
            </a:r>
            <a:endParaRPr lang="en-US" altLang="ko-KR" sz="1200" dirty="0">
              <a:latin typeface="+mn-ea"/>
              <a:cs typeface="Gulim"/>
            </a:endParaRPr>
          </a:p>
          <a:p>
            <a:pPr marL="233680" indent="-287655">
              <a:spcBef>
                <a:spcPts val="1440"/>
              </a:spcBef>
              <a:buChar char="-"/>
              <a:tabLst>
                <a:tab pos="690880" algn="l"/>
                <a:tab pos="691515" algn="l"/>
              </a:tabLst>
            </a:pPr>
            <a:endParaRPr lang="ko-KR" altLang="en-US" sz="800" dirty="0">
              <a:latin typeface="+mn-ea"/>
              <a:cs typeface="Gulim"/>
            </a:endParaRPr>
          </a:p>
          <a:p>
            <a:endParaRPr kumimoji="1" lang="ko-KR" altLang="en-US" sz="800" dirty="0"/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6E01DD3E-BC55-0D0F-9780-7B8B684C16E3}"/>
              </a:ext>
            </a:extLst>
          </p:cNvPr>
          <p:cNvSpPr txBox="1">
            <a:spLocks/>
          </p:cNvSpPr>
          <p:nvPr/>
        </p:nvSpPr>
        <p:spPr>
          <a:xfrm>
            <a:off x="458118" y="4038600"/>
            <a:ext cx="4309110" cy="181331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>
              <a:defRPr sz="1050" b="0" i="0">
                <a:solidFill>
                  <a:schemeClr val="bg1"/>
                </a:solidFill>
                <a:latin typeface="Consolas"/>
                <a:ea typeface="+mn-ea"/>
                <a:cs typeface="Consola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marL="12065" latinLnBrk="0">
              <a:spcBef>
                <a:spcPts val="105"/>
              </a:spcBef>
              <a:tabLst>
                <a:tab pos="299720" algn="l"/>
              </a:tabLst>
            </a:pPr>
            <a:r>
              <a:rPr lang="en-US" altLang="ko-KR" sz="1400" kern="0" spc="-5" dirty="0">
                <a:solidFill>
                  <a:srgbClr val="558ED5"/>
                </a:solidFill>
                <a:latin typeface="+mn-ea"/>
                <a:cs typeface="Malgun Gothic"/>
              </a:rPr>
              <a:t>3.3. </a:t>
            </a:r>
            <a:r>
              <a:rPr lang="ko-KR" altLang="en-US" sz="1400" kern="0" spc="-5" dirty="0">
                <a:solidFill>
                  <a:srgbClr val="558ED5"/>
                </a:solidFill>
                <a:latin typeface="+mn-ea"/>
                <a:cs typeface="Malgun Gothic"/>
              </a:rPr>
              <a:t>공통기능 및 추가기능을 활용한 사용자 시나리오 및 </a:t>
            </a:r>
            <a:r>
              <a:rPr lang="en-US" altLang="ko-KR" sz="1400" kern="0" spc="-5" dirty="0">
                <a:solidFill>
                  <a:srgbClr val="558ED5"/>
                </a:solidFill>
                <a:latin typeface="+mn-ea"/>
                <a:cs typeface="Malgun Gothic"/>
              </a:rPr>
              <a:t>UI </a:t>
            </a:r>
            <a:r>
              <a:rPr lang="ko-KR" altLang="en-US" sz="1400" kern="0" spc="-5" dirty="0">
                <a:solidFill>
                  <a:srgbClr val="558ED5"/>
                </a:solidFill>
                <a:latin typeface="+mn-ea"/>
                <a:cs typeface="Malgun Gothic"/>
              </a:rPr>
              <a:t>제공 </a:t>
            </a:r>
            <a:r>
              <a:rPr lang="en-US" altLang="ko-KR" sz="1400" kern="0" spc="-5" dirty="0">
                <a:solidFill>
                  <a:srgbClr val="558ED5"/>
                </a:solidFill>
                <a:latin typeface="+mn-ea"/>
                <a:cs typeface="Malgun Gothic"/>
              </a:rPr>
              <a:t>(</a:t>
            </a:r>
            <a:r>
              <a:rPr lang="ko-KR" altLang="en-US" sz="1400" kern="0" spc="-5" dirty="0">
                <a:solidFill>
                  <a:srgbClr val="558ED5"/>
                </a:solidFill>
                <a:latin typeface="+mn-ea"/>
                <a:cs typeface="Malgun Gothic"/>
              </a:rPr>
              <a:t>신규 추가 필요</a:t>
            </a:r>
            <a:r>
              <a:rPr lang="en-US" altLang="ko-KR" sz="1400" kern="0" spc="-5" dirty="0">
                <a:solidFill>
                  <a:srgbClr val="558ED5"/>
                </a:solidFill>
                <a:latin typeface="+mn-ea"/>
                <a:cs typeface="Malgun Gothic"/>
              </a:rPr>
              <a:t>)</a:t>
            </a:r>
          </a:p>
          <a:p>
            <a:pPr marL="12065" latinLnBrk="0">
              <a:spcBef>
                <a:spcPts val="105"/>
              </a:spcBef>
              <a:tabLst>
                <a:tab pos="299720" algn="l"/>
              </a:tabLst>
            </a:pPr>
            <a:endParaRPr lang="ko-KR" altLang="en-US" sz="1400" i="1" kern="0" dirty="0">
              <a:solidFill>
                <a:srgbClr val="FF0000"/>
              </a:solidFill>
              <a:latin typeface="+mn-ea"/>
              <a:cs typeface="Malgun Gothic"/>
            </a:endParaRPr>
          </a:p>
          <a:p>
            <a:pPr marL="690880" lvl="1" indent="-287655" latinLnBrk="0">
              <a:spcBef>
                <a:spcPts val="1440"/>
              </a:spcBef>
              <a:buFontTx/>
              <a:buChar char="-"/>
              <a:tabLst>
                <a:tab pos="690880" algn="l"/>
                <a:tab pos="691515" algn="l"/>
              </a:tabLst>
            </a:pPr>
            <a:r>
              <a:rPr lang="en-US" altLang="ko-KR" sz="1200" i="1" kern="0" spc="-5" dirty="0">
                <a:solidFill>
                  <a:srgbClr val="FF0000"/>
                </a:solidFill>
                <a:latin typeface="+mn-ea"/>
                <a:cs typeface="Malgun Gothic"/>
              </a:rPr>
              <a:t>(</a:t>
            </a:r>
            <a:r>
              <a:rPr lang="ko-KR" altLang="en-US" sz="1200" i="1" kern="0" spc="-5" dirty="0">
                <a:solidFill>
                  <a:srgbClr val="FF0000"/>
                </a:solidFill>
                <a:latin typeface="+mn-ea"/>
                <a:cs typeface="Malgun Gothic"/>
              </a:rPr>
              <a:t>간략한 설명</a:t>
            </a:r>
            <a:r>
              <a:rPr lang="en-US" altLang="ko-KR" sz="1200" i="1" kern="0" spc="-5" dirty="0">
                <a:solidFill>
                  <a:srgbClr val="FF0000"/>
                </a:solidFill>
                <a:latin typeface="+mn-ea"/>
                <a:cs typeface="Malgun Gothic"/>
              </a:rPr>
              <a:t>)</a:t>
            </a:r>
          </a:p>
          <a:p>
            <a:pPr marL="403225" lvl="1" latinLnBrk="0">
              <a:spcBef>
                <a:spcPts val="1440"/>
              </a:spcBef>
              <a:tabLst>
                <a:tab pos="690880" algn="l"/>
                <a:tab pos="691515" algn="l"/>
              </a:tabLst>
            </a:pPr>
            <a:r>
              <a:rPr lang="en-US" altLang="ko-KR" sz="1200" i="1" kern="0" spc="-5" dirty="0">
                <a:solidFill>
                  <a:srgbClr val="FF0000"/>
                </a:solidFill>
                <a:latin typeface="+mn-ea"/>
                <a:cs typeface="Malgun Gothic"/>
              </a:rPr>
              <a:t>(</a:t>
            </a:r>
            <a:r>
              <a:rPr lang="ko-KR" altLang="en-US" sz="1200" i="1" kern="0" spc="-5" dirty="0">
                <a:solidFill>
                  <a:srgbClr val="FF0000"/>
                </a:solidFill>
                <a:latin typeface="+mn-ea"/>
                <a:cs typeface="Malgun Gothic"/>
              </a:rPr>
              <a:t>기능 동작 캡처 화면 제시</a:t>
            </a:r>
            <a:r>
              <a:rPr lang="en-US" altLang="ko-KR" sz="1200" i="1" kern="0" spc="-5" dirty="0">
                <a:solidFill>
                  <a:srgbClr val="FF0000"/>
                </a:solidFill>
                <a:latin typeface="+mn-ea"/>
                <a:cs typeface="Malgun Gothic"/>
              </a:rPr>
              <a:t>)</a:t>
            </a:r>
            <a:endParaRPr lang="en-US" altLang="ko-KR" sz="1200" kern="0" dirty="0">
              <a:solidFill>
                <a:sysClr val="windowText" lastClr="000000"/>
              </a:solidFill>
              <a:latin typeface="+mn-ea"/>
              <a:cs typeface="Gulim"/>
            </a:endParaRPr>
          </a:p>
          <a:p>
            <a:pPr marL="233680" indent="-287655" latinLnBrk="0">
              <a:spcBef>
                <a:spcPts val="1440"/>
              </a:spcBef>
              <a:buFontTx/>
              <a:buChar char="-"/>
              <a:tabLst>
                <a:tab pos="690880" algn="l"/>
                <a:tab pos="691515" algn="l"/>
              </a:tabLst>
            </a:pPr>
            <a:endParaRPr lang="ko-KR" altLang="en-US" sz="800" kern="0" dirty="0">
              <a:latin typeface="+mn-ea"/>
              <a:cs typeface="Gulim"/>
            </a:endParaRPr>
          </a:p>
          <a:p>
            <a:pPr latinLnBrk="0"/>
            <a:endParaRPr kumimoji="1" lang="ko-KR" altLang="en-US" sz="800" kern="0" dirty="0"/>
          </a:p>
        </p:txBody>
      </p:sp>
      <p:sp>
        <p:nvSpPr>
          <p:cNvPr id="6" name="내용 개체 틀 3">
            <a:extLst>
              <a:ext uri="{FF2B5EF4-FFF2-40B4-BE49-F238E27FC236}">
                <a16:creationId xmlns:a16="http://schemas.microsoft.com/office/drawing/2014/main" id="{0F8C301E-3D83-105C-BBF1-8DF4BD734E96}"/>
              </a:ext>
            </a:extLst>
          </p:cNvPr>
          <p:cNvSpPr txBox="1">
            <a:spLocks/>
          </p:cNvSpPr>
          <p:nvPr/>
        </p:nvSpPr>
        <p:spPr>
          <a:xfrm>
            <a:off x="5064408" y="4038600"/>
            <a:ext cx="4309110" cy="136960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>
              <a:defRPr sz="1050" b="0" i="0">
                <a:solidFill>
                  <a:schemeClr val="bg1"/>
                </a:solidFill>
                <a:latin typeface="Consolas"/>
                <a:ea typeface="+mn-ea"/>
                <a:cs typeface="Consola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marL="12065" latinLnBrk="0">
              <a:spcBef>
                <a:spcPts val="105"/>
              </a:spcBef>
              <a:tabLst>
                <a:tab pos="299720" algn="l"/>
              </a:tabLst>
            </a:pPr>
            <a:r>
              <a:rPr lang="en-US" altLang="ko-KR" sz="1400" kern="0" spc="-5" dirty="0">
                <a:solidFill>
                  <a:srgbClr val="558ED5"/>
                </a:solidFill>
                <a:latin typeface="+mn-ea"/>
                <a:cs typeface="Malgun Gothic"/>
              </a:rPr>
              <a:t>3-4. </a:t>
            </a:r>
            <a:r>
              <a:rPr lang="ko-KR" altLang="en-US" sz="1400" kern="0" spc="-5" dirty="0">
                <a:solidFill>
                  <a:srgbClr val="558ED5"/>
                </a:solidFill>
                <a:latin typeface="+mn-ea"/>
                <a:cs typeface="Malgun Gothic"/>
              </a:rPr>
              <a:t>기타 추가 기능</a:t>
            </a:r>
            <a:endParaRPr lang="ko-KR" altLang="en-US" sz="1400" i="1" kern="0" dirty="0">
              <a:solidFill>
                <a:srgbClr val="FF0000"/>
              </a:solidFill>
              <a:latin typeface="+mn-ea"/>
              <a:cs typeface="Malgun Gothic"/>
            </a:endParaRPr>
          </a:p>
          <a:p>
            <a:pPr marL="690880" lvl="1" indent="-287655" latinLnBrk="0">
              <a:spcBef>
                <a:spcPts val="1440"/>
              </a:spcBef>
              <a:buFontTx/>
              <a:buChar char="-"/>
              <a:tabLst>
                <a:tab pos="690880" algn="l"/>
                <a:tab pos="691515" algn="l"/>
              </a:tabLst>
            </a:pPr>
            <a:r>
              <a:rPr lang="en-US" altLang="ko-KR" sz="1200" i="1" kern="0" spc="-5" dirty="0">
                <a:solidFill>
                  <a:srgbClr val="FF0000"/>
                </a:solidFill>
                <a:latin typeface="+mn-ea"/>
                <a:cs typeface="Malgun Gothic"/>
              </a:rPr>
              <a:t>(</a:t>
            </a:r>
            <a:r>
              <a:rPr lang="ko-KR" altLang="en-US" sz="1200" i="1" kern="0" spc="-5" dirty="0">
                <a:solidFill>
                  <a:srgbClr val="FF0000"/>
                </a:solidFill>
                <a:latin typeface="+mn-ea"/>
                <a:cs typeface="Malgun Gothic"/>
              </a:rPr>
              <a:t>간략한 설명</a:t>
            </a:r>
            <a:r>
              <a:rPr lang="en-US" altLang="ko-KR" sz="1200" i="1" kern="0" spc="-5" dirty="0">
                <a:solidFill>
                  <a:srgbClr val="FF0000"/>
                </a:solidFill>
                <a:latin typeface="+mn-ea"/>
                <a:cs typeface="Malgun Gothic"/>
              </a:rPr>
              <a:t>)</a:t>
            </a:r>
          </a:p>
          <a:p>
            <a:pPr marL="403225" lvl="1" latinLnBrk="0">
              <a:spcBef>
                <a:spcPts val="1440"/>
              </a:spcBef>
              <a:tabLst>
                <a:tab pos="690880" algn="l"/>
                <a:tab pos="691515" algn="l"/>
              </a:tabLst>
            </a:pPr>
            <a:r>
              <a:rPr lang="en-US" altLang="ko-KR" sz="1200" i="1" kern="0" spc="-5" dirty="0">
                <a:solidFill>
                  <a:srgbClr val="FF0000"/>
                </a:solidFill>
                <a:latin typeface="+mn-ea"/>
                <a:cs typeface="Malgun Gothic"/>
              </a:rPr>
              <a:t>(</a:t>
            </a:r>
            <a:r>
              <a:rPr lang="ko-KR" altLang="en-US" sz="1200" i="1" kern="0" spc="-5" dirty="0">
                <a:solidFill>
                  <a:srgbClr val="FF0000"/>
                </a:solidFill>
                <a:latin typeface="+mn-ea"/>
                <a:cs typeface="Malgun Gothic"/>
              </a:rPr>
              <a:t>기능 동작 캡처 화면 제시</a:t>
            </a:r>
            <a:r>
              <a:rPr lang="en-US" altLang="ko-KR" sz="1200" i="1" kern="0" spc="-5" dirty="0">
                <a:solidFill>
                  <a:srgbClr val="FF0000"/>
                </a:solidFill>
                <a:latin typeface="+mn-ea"/>
                <a:cs typeface="Malgun Gothic"/>
              </a:rPr>
              <a:t>)</a:t>
            </a:r>
            <a:endParaRPr lang="en-US" altLang="ko-KR" sz="1200" kern="0" dirty="0">
              <a:solidFill>
                <a:sysClr val="windowText" lastClr="000000"/>
              </a:solidFill>
              <a:latin typeface="+mn-ea"/>
              <a:cs typeface="Gulim"/>
            </a:endParaRPr>
          </a:p>
          <a:p>
            <a:pPr marL="233680" indent="-287655" latinLnBrk="0">
              <a:spcBef>
                <a:spcPts val="1440"/>
              </a:spcBef>
              <a:buFontTx/>
              <a:buChar char="-"/>
              <a:tabLst>
                <a:tab pos="690880" algn="l"/>
                <a:tab pos="691515" algn="l"/>
              </a:tabLst>
            </a:pPr>
            <a:endParaRPr lang="ko-KR" altLang="en-US" sz="800" kern="0" dirty="0">
              <a:latin typeface="+mn-ea"/>
              <a:cs typeface="Gulim"/>
            </a:endParaRPr>
          </a:p>
          <a:p>
            <a:pPr latinLnBrk="0"/>
            <a:endParaRPr kumimoji="1" lang="ko-KR" altLang="en-US" sz="800" kern="0" dirty="0"/>
          </a:p>
        </p:txBody>
      </p:sp>
    </p:spTree>
    <p:extLst>
      <p:ext uri="{BB962C8B-B14F-4D97-AF65-F5344CB8AC3E}">
        <p14:creationId xmlns:p14="http://schemas.microsoft.com/office/powerpoint/2010/main" val="21430541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A6232A-58D9-EFAF-E142-261AA29A4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711783AD-4A19-F75E-4B88-637986810F13}"/>
              </a:ext>
            </a:extLst>
          </p:cNvPr>
          <p:cNvSpPr txBox="1"/>
          <p:nvPr/>
        </p:nvSpPr>
        <p:spPr>
          <a:xfrm>
            <a:off x="1208504" y="6486875"/>
            <a:ext cx="1705610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b="1" dirty="0">
                <a:solidFill>
                  <a:srgbClr val="1F497D"/>
                </a:solidFill>
                <a:latin typeface="Times New Roman"/>
                <a:cs typeface="Times New Roman"/>
              </a:rPr>
              <a:t>Image </a:t>
            </a:r>
            <a:r>
              <a:rPr sz="1400" b="1" spc="-5" dirty="0">
                <a:solidFill>
                  <a:srgbClr val="1F497D"/>
                </a:solidFill>
                <a:latin typeface="Times New Roman"/>
                <a:cs typeface="Times New Roman"/>
              </a:rPr>
              <a:t>Processing</a:t>
            </a:r>
            <a:r>
              <a:rPr sz="1400" b="1" spc="-70" dirty="0">
                <a:solidFill>
                  <a:srgbClr val="1F497D"/>
                </a:solidFill>
                <a:latin typeface="Times New Roman"/>
                <a:cs typeface="Times New Roman"/>
              </a:rPr>
              <a:t> </a:t>
            </a:r>
            <a:r>
              <a:rPr sz="1400" b="1" dirty="0">
                <a:solidFill>
                  <a:srgbClr val="1F497D"/>
                </a:solidFill>
                <a:latin typeface="Times New Roman"/>
                <a:cs typeface="Times New Roman"/>
              </a:rPr>
              <a:t>Lab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44824326-EE27-709E-7158-5943D15D3EE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4040" y="609888"/>
            <a:ext cx="7807960" cy="32124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spcBef>
                <a:spcPts val="105"/>
              </a:spcBef>
            </a:pPr>
            <a:r>
              <a:rPr lang="ko-KR" altLang="en-US" sz="2000" dirty="0"/>
              <a:t>기능</a:t>
            </a:r>
            <a:r>
              <a:rPr lang="en-US" altLang="ko-KR" sz="2000" i="1" dirty="0">
                <a:solidFill>
                  <a:srgbClr val="FF0000"/>
                </a:solidFill>
              </a:rPr>
              <a:t>(</a:t>
            </a:r>
            <a:r>
              <a:rPr lang="ko-KR" altLang="en-US" sz="2000" i="1" dirty="0">
                <a:solidFill>
                  <a:srgbClr val="FF0000"/>
                </a:solidFill>
              </a:rPr>
              <a:t>부족한 설명 </a:t>
            </a:r>
            <a:r>
              <a:rPr lang="ko-KR" altLang="en-US" sz="2000" i="1" dirty="0" err="1">
                <a:solidFill>
                  <a:srgbClr val="FF0000"/>
                </a:solidFill>
              </a:rPr>
              <a:t>추거</a:t>
            </a:r>
            <a:r>
              <a:rPr lang="en-US" altLang="ko-KR" sz="2000" i="1" dirty="0">
                <a:solidFill>
                  <a:srgbClr val="FF0000"/>
                </a:solidFill>
              </a:rPr>
              <a:t>,</a:t>
            </a:r>
            <a:r>
              <a:rPr lang="ko-KR" altLang="en-US" sz="2000" i="1" dirty="0">
                <a:solidFill>
                  <a:srgbClr val="FF0000"/>
                </a:solidFill>
              </a:rPr>
              <a:t> 신규 또는 추가 기능 중심</a:t>
            </a:r>
            <a:r>
              <a:rPr lang="en-US" altLang="ko-KR" sz="2000" i="1" dirty="0">
                <a:solidFill>
                  <a:srgbClr val="FF0000"/>
                </a:solidFill>
              </a:rPr>
              <a:t>,</a:t>
            </a:r>
            <a:r>
              <a:rPr lang="ko-KR" altLang="en-US" sz="2000" i="1" dirty="0">
                <a:solidFill>
                  <a:srgbClr val="FF0000"/>
                </a:solidFill>
              </a:rPr>
              <a:t> 페이지 추가 가능</a:t>
            </a:r>
            <a:r>
              <a:rPr lang="en-US" altLang="ko-KR" sz="2000" i="1" dirty="0">
                <a:solidFill>
                  <a:srgbClr val="FF0000"/>
                </a:solidFill>
              </a:rPr>
              <a:t>)</a:t>
            </a:r>
            <a:endParaRPr i="1" dirty="0">
              <a:solidFill>
                <a:srgbClr val="FF0000"/>
              </a:solidFill>
            </a:endParaRPr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81041FBD-FFD1-6639-E0FE-B73C65DCDC64}"/>
              </a:ext>
            </a:extLst>
          </p:cNvPr>
          <p:cNvSpPr txBox="1"/>
          <p:nvPr/>
        </p:nvSpPr>
        <p:spPr>
          <a:xfrm>
            <a:off x="574040" y="1124817"/>
            <a:ext cx="8080375" cy="123431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99085" indent="-287020">
              <a:lnSpc>
                <a:spcPct val="100000"/>
              </a:lnSpc>
              <a:spcBef>
                <a:spcPts val="105"/>
              </a:spcBef>
              <a:buFont typeface="Wingdings"/>
              <a:buChar char=""/>
              <a:tabLst>
                <a:tab pos="299720" algn="l"/>
              </a:tabLst>
            </a:pPr>
            <a:r>
              <a:rPr lang="en-US" altLang="ko-KR" sz="2000" spc="-5" dirty="0">
                <a:solidFill>
                  <a:srgbClr val="558ED5"/>
                </a:solidFill>
                <a:latin typeface="+mn-ea"/>
                <a:cs typeface="Malgun Gothic"/>
              </a:rPr>
              <a:t>??</a:t>
            </a:r>
            <a:r>
              <a:rPr lang="ko-KR" altLang="en-US" sz="2000" spc="-5" dirty="0">
                <a:solidFill>
                  <a:srgbClr val="558ED5"/>
                </a:solidFill>
                <a:latin typeface="+mn-ea"/>
                <a:cs typeface="Malgun Gothic"/>
              </a:rPr>
              <a:t> </a:t>
            </a:r>
            <a:r>
              <a:rPr lang="en-US" altLang="ko-KR" sz="2000" i="1" spc="-5" dirty="0">
                <a:solidFill>
                  <a:srgbClr val="FF0000"/>
                </a:solidFill>
                <a:latin typeface="+mn-ea"/>
                <a:cs typeface="Malgun Gothic"/>
              </a:rPr>
              <a:t>(</a:t>
            </a:r>
            <a:r>
              <a:rPr lang="ko-KR" altLang="en-US" sz="2000" i="1" spc="-5" dirty="0">
                <a:solidFill>
                  <a:srgbClr val="FF0000"/>
                </a:solidFill>
                <a:latin typeface="+mn-ea"/>
                <a:cs typeface="Malgun Gothic"/>
              </a:rPr>
              <a:t>에지</a:t>
            </a:r>
            <a:r>
              <a:rPr lang="en-US" altLang="ko-KR" sz="2000" i="1" spc="-5" dirty="0">
                <a:solidFill>
                  <a:srgbClr val="FF0000"/>
                </a:solidFill>
                <a:latin typeface="+mn-ea"/>
                <a:cs typeface="Malgun Gothic"/>
              </a:rPr>
              <a:t>/</a:t>
            </a:r>
            <a:r>
              <a:rPr lang="ko-KR" altLang="en-US" sz="2000" i="1" spc="-5" dirty="0">
                <a:solidFill>
                  <a:srgbClr val="FF0000"/>
                </a:solidFill>
                <a:latin typeface="+mn-ea"/>
                <a:cs typeface="Malgun Gothic"/>
              </a:rPr>
              <a:t>서버</a:t>
            </a:r>
            <a:r>
              <a:rPr lang="en-US" altLang="ko-KR" sz="2000" i="1" spc="-5" dirty="0">
                <a:solidFill>
                  <a:srgbClr val="FF0000"/>
                </a:solidFill>
                <a:latin typeface="+mn-ea"/>
                <a:cs typeface="Malgun Gothic"/>
              </a:rPr>
              <a:t>/</a:t>
            </a:r>
            <a:r>
              <a:rPr lang="ko-KR" altLang="en-US" sz="2000" i="1" spc="-5" dirty="0">
                <a:solidFill>
                  <a:srgbClr val="FF0000"/>
                </a:solidFill>
                <a:latin typeface="+mn-ea"/>
                <a:cs typeface="Malgun Gothic"/>
              </a:rPr>
              <a:t>스마트폰 클라이언트의 역할 제시</a:t>
            </a:r>
            <a:r>
              <a:rPr lang="en-US" altLang="ko-KR" sz="2000" i="1" spc="-5" dirty="0">
                <a:solidFill>
                  <a:srgbClr val="FF0000"/>
                </a:solidFill>
                <a:latin typeface="+mn-ea"/>
                <a:cs typeface="Malgun Gothic"/>
              </a:rPr>
              <a:t>)</a:t>
            </a:r>
            <a:endParaRPr sz="2000" i="1" dirty="0">
              <a:solidFill>
                <a:srgbClr val="FF0000"/>
              </a:solidFill>
              <a:latin typeface="+mn-ea"/>
              <a:cs typeface="Malgun Gothic"/>
            </a:endParaRPr>
          </a:p>
          <a:p>
            <a:pPr marL="690880" lvl="1" indent="-287655">
              <a:lnSpc>
                <a:spcPct val="100000"/>
              </a:lnSpc>
              <a:spcBef>
                <a:spcPts val="1440"/>
              </a:spcBef>
              <a:buChar char="-"/>
              <a:tabLst>
                <a:tab pos="690880" algn="l"/>
                <a:tab pos="691515" algn="l"/>
              </a:tabLst>
            </a:pPr>
            <a:r>
              <a:rPr lang="en-US" altLang="ko-KR" sz="1800" dirty="0">
                <a:latin typeface="+mn-ea"/>
                <a:cs typeface="Gulim"/>
              </a:rPr>
              <a:t>??</a:t>
            </a:r>
          </a:p>
          <a:p>
            <a:pPr marL="233680" indent="-287655">
              <a:spcBef>
                <a:spcPts val="1440"/>
              </a:spcBef>
              <a:buChar char="-"/>
              <a:tabLst>
                <a:tab pos="690880" algn="l"/>
                <a:tab pos="691515" algn="l"/>
              </a:tabLst>
            </a:pPr>
            <a:endParaRPr dirty="0">
              <a:latin typeface="+mn-ea"/>
              <a:cs typeface="Gulim"/>
            </a:endParaRPr>
          </a:p>
        </p:txBody>
      </p:sp>
    </p:spTree>
    <p:extLst>
      <p:ext uri="{BB962C8B-B14F-4D97-AF65-F5344CB8AC3E}">
        <p14:creationId xmlns:p14="http://schemas.microsoft.com/office/powerpoint/2010/main" val="2109611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208504" y="6486875"/>
            <a:ext cx="1705610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b="1" dirty="0">
                <a:solidFill>
                  <a:srgbClr val="1F497D"/>
                </a:solidFill>
                <a:latin typeface="Times New Roman"/>
                <a:cs typeface="Times New Roman"/>
              </a:rPr>
              <a:t>Image </a:t>
            </a:r>
            <a:r>
              <a:rPr sz="1400" b="1" spc="-5" dirty="0">
                <a:solidFill>
                  <a:srgbClr val="1F497D"/>
                </a:solidFill>
                <a:latin typeface="Times New Roman"/>
                <a:cs typeface="Times New Roman"/>
              </a:rPr>
              <a:t>Processing</a:t>
            </a:r>
            <a:r>
              <a:rPr sz="1400" b="1" spc="-70" dirty="0">
                <a:solidFill>
                  <a:srgbClr val="1F497D"/>
                </a:solidFill>
                <a:latin typeface="Times New Roman"/>
                <a:cs typeface="Times New Roman"/>
              </a:rPr>
              <a:t> </a:t>
            </a:r>
            <a:r>
              <a:rPr sz="1400" b="1" dirty="0">
                <a:solidFill>
                  <a:srgbClr val="1F497D"/>
                </a:solidFill>
                <a:latin typeface="Times New Roman"/>
                <a:cs typeface="Times New Roman"/>
              </a:rPr>
              <a:t>Lab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574040" y="609888"/>
            <a:ext cx="3845560" cy="32124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spcBef>
                <a:spcPts val="105"/>
              </a:spcBef>
            </a:pPr>
            <a:r>
              <a:rPr lang="ko-KR" altLang="en-US" sz="2000" dirty="0"/>
              <a:t>사용자 시나리오</a:t>
            </a:r>
            <a:r>
              <a:rPr lang="en-US" altLang="ko-KR" sz="2000" dirty="0"/>
              <a:t>(Ui </a:t>
            </a:r>
            <a:r>
              <a:rPr lang="ko-KR" altLang="en-US" sz="2000" dirty="0"/>
              <a:t>구성</a:t>
            </a:r>
            <a:r>
              <a:rPr lang="en-US" altLang="ko-KR" sz="2000" dirty="0"/>
              <a:t>)</a:t>
            </a:r>
            <a:endParaRPr dirty="0"/>
          </a:p>
        </p:txBody>
      </p:sp>
      <p:sp>
        <p:nvSpPr>
          <p:cNvPr id="4" name="object 4"/>
          <p:cNvSpPr txBox="1"/>
          <p:nvPr/>
        </p:nvSpPr>
        <p:spPr>
          <a:xfrm>
            <a:off x="574040" y="1124817"/>
            <a:ext cx="8080375" cy="77777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99085" indent="-287020">
              <a:lnSpc>
                <a:spcPct val="100000"/>
              </a:lnSpc>
              <a:spcBef>
                <a:spcPts val="105"/>
              </a:spcBef>
              <a:buFont typeface="Wingdings"/>
              <a:buChar char=""/>
              <a:tabLst>
                <a:tab pos="299720" algn="l"/>
              </a:tabLst>
            </a:pPr>
            <a:r>
              <a:rPr lang="en-US" altLang="ko-KR" sz="2000" spc="-5" dirty="0">
                <a:solidFill>
                  <a:srgbClr val="558ED5"/>
                </a:solidFill>
                <a:latin typeface="+mn-ea"/>
                <a:cs typeface="Malgun Gothic"/>
              </a:rPr>
              <a:t>??</a:t>
            </a:r>
            <a:r>
              <a:rPr lang="ko-KR" altLang="en-US" sz="2000" spc="-5" dirty="0">
                <a:solidFill>
                  <a:srgbClr val="558ED5"/>
                </a:solidFill>
                <a:latin typeface="+mn-ea"/>
                <a:cs typeface="Malgun Gothic"/>
              </a:rPr>
              <a:t> </a:t>
            </a:r>
            <a:r>
              <a:rPr lang="en-US" altLang="ko-KR" sz="2000" i="1" spc="-5" dirty="0">
                <a:solidFill>
                  <a:srgbClr val="FF0000"/>
                </a:solidFill>
                <a:latin typeface="+mn-ea"/>
                <a:cs typeface="Malgun Gothic"/>
              </a:rPr>
              <a:t>(</a:t>
            </a:r>
            <a:r>
              <a:rPr lang="ko-KR" altLang="en-US" sz="2000" i="1" spc="-5" dirty="0">
                <a:solidFill>
                  <a:srgbClr val="FF0000"/>
                </a:solidFill>
                <a:latin typeface="+mn-ea"/>
                <a:cs typeface="Malgun Gothic"/>
              </a:rPr>
              <a:t>개발 완료된 상태를 캡처하여 사용</a:t>
            </a:r>
            <a:r>
              <a:rPr lang="en-US" altLang="ko-KR" sz="2000" i="1" spc="-5" dirty="0">
                <a:solidFill>
                  <a:srgbClr val="FF0000"/>
                </a:solidFill>
                <a:latin typeface="+mn-ea"/>
                <a:cs typeface="Malgun Gothic"/>
              </a:rPr>
              <a:t>)</a:t>
            </a:r>
            <a:endParaRPr sz="2000" dirty="0">
              <a:latin typeface="+mn-ea"/>
              <a:cs typeface="Malgun Gothic"/>
            </a:endParaRPr>
          </a:p>
          <a:p>
            <a:pPr marL="690880" lvl="1" indent="-287655">
              <a:lnSpc>
                <a:spcPct val="100000"/>
              </a:lnSpc>
              <a:spcBef>
                <a:spcPts val="1440"/>
              </a:spcBef>
              <a:buChar char="-"/>
              <a:tabLst>
                <a:tab pos="690880" algn="l"/>
                <a:tab pos="691515" algn="l"/>
              </a:tabLst>
            </a:pPr>
            <a:r>
              <a:rPr lang="en-US" altLang="ko-KR" sz="1800" dirty="0">
                <a:latin typeface="+mn-ea"/>
                <a:cs typeface="Gulim"/>
              </a:rPr>
              <a:t>??</a:t>
            </a:r>
            <a:endParaRPr sz="1800" dirty="0">
              <a:latin typeface="+mn-ea"/>
              <a:cs typeface="Gulim"/>
            </a:endParaRPr>
          </a:p>
        </p:txBody>
      </p:sp>
    </p:spTree>
    <p:extLst>
      <p:ext uri="{BB962C8B-B14F-4D97-AF65-F5344CB8AC3E}">
        <p14:creationId xmlns:p14="http://schemas.microsoft.com/office/powerpoint/2010/main" val="25556137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208504" y="6486875"/>
            <a:ext cx="1705610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b="1" dirty="0">
                <a:solidFill>
                  <a:srgbClr val="1F497D"/>
                </a:solidFill>
                <a:latin typeface="Times New Roman"/>
                <a:cs typeface="Times New Roman"/>
              </a:rPr>
              <a:t>Image </a:t>
            </a:r>
            <a:r>
              <a:rPr sz="1400" b="1" spc="-5" dirty="0">
                <a:solidFill>
                  <a:srgbClr val="1F497D"/>
                </a:solidFill>
                <a:latin typeface="Times New Roman"/>
                <a:cs typeface="Times New Roman"/>
              </a:rPr>
              <a:t>Processing</a:t>
            </a:r>
            <a:r>
              <a:rPr sz="1400" b="1" spc="-70" dirty="0">
                <a:solidFill>
                  <a:srgbClr val="1F497D"/>
                </a:solidFill>
                <a:latin typeface="Times New Roman"/>
                <a:cs typeface="Times New Roman"/>
              </a:rPr>
              <a:t> </a:t>
            </a:r>
            <a:r>
              <a:rPr sz="1400" b="1" dirty="0">
                <a:solidFill>
                  <a:srgbClr val="1F497D"/>
                </a:solidFill>
                <a:latin typeface="Times New Roman"/>
                <a:cs typeface="Times New Roman"/>
              </a:rPr>
              <a:t>Lab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574040" y="609888"/>
            <a:ext cx="6664960" cy="32124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spcBef>
                <a:spcPts val="105"/>
              </a:spcBef>
            </a:pPr>
            <a:r>
              <a:rPr lang="ko-KR" altLang="en-US" sz="2000" dirty="0"/>
              <a:t>데모</a:t>
            </a:r>
            <a:r>
              <a:rPr lang="en-US" altLang="ko-KR" sz="2000" i="1" dirty="0">
                <a:solidFill>
                  <a:srgbClr val="FF0000"/>
                </a:solidFill>
              </a:rPr>
              <a:t>(</a:t>
            </a:r>
            <a:r>
              <a:rPr lang="ko-KR" altLang="en-US" sz="2000" i="1" dirty="0">
                <a:solidFill>
                  <a:srgbClr val="FF0000"/>
                </a:solidFill>
              </a:rPr>
              <a:t>구동 동영상</a:t>
            </a:r>
            <a:r>
              <a:rPr lang="en-US" altLang="ko-KR" sz="2000" i="1" dirty="0">
                <a:solidFill>
                  <a:srgbClr val="FF0000"/>
                </a:solidFill>
              </a:rPr>
              <a:t>,</a:t>
            </a:r>
            <a:r>
              <a:rPr lang="ko-KR" altLang="en-US" sz="2000" i="1" dirty="0">
                <a:solidFill>
                  <a:srgbClr val="FF0000"/>
                </a:solidFill>
              </a:rPr>
              <a:t> </a:t>
            </a:r>
            <a:r>
              <a:rPr lang="en-US" altLang="ko-KR" sz="2000" i="1" dirty="0">
                <a:solidFill>
                  <a:srgbClr val="FF0000"/>
                </a:solidFill>
              </a:rPr>
              <a:t>mp4</a:t>
            </a:r>
            <a:r>
              <a:rPr lang="ko-KR" altLang="en-US" sz="2000" i="1" dirty="0">
                <a:solidFill>
                  <a:srgbClr val="FF0000"/>
                </a:solidFill>
              </a:rPr>
              <a:t> 동영상 파일을 추가 함</a:t>
            </a:r>
            <a:r>
              <a:rPr lang="en-US" altLang="ko-KR" sz="2000" i="1" dirty="0">
                <a:solidFill>
                  <a:srgbClr val="FF0000"/>
                </a:solidFill>
              </a:rPr>
              <a:t>)</a:t>
            </a:r>
            <a:endParaRPr i="1" dirty="0">
              <a:solidFill>
                <a:srgbClr val="FF0000"/>
              </a:solidFill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574040" y="1124817"/>
            <a:ext cx="8080375" cy="32124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99085" indent="-287020">
              <a:lnSpc>
                <a:spcPct val="100000"/>
              </a:lnSpc>
              <a:spcBef>
                <a:spcPts val="105"/>
              </a:spcBef>
              <a:buFont typeface="Wingdings"/>
              <a:buChar char=""/>
              <a:tabLst>
                <a:tab pos="299720" algn="l"/>
              </a:tabLst>
            </a:pPr>
            <a:r>
              <a:rPr lang="ko-KR" altLang="en-US" sz="2000" spc="-5" dirty="0">
                <a:solidFill>
                  <a:srgbClr val="558ED5"/>
                </a:solidFill>
                <a:latin typeface="+mn-ea"/>
                <a:cs typeface="Malgun Gothic"/>
              </a:rPr>
              <a:t>데모 동영상</a:t>
            </a:r>
            <a:endParaRPr sz="2000" dirty="0">
              <a:latin typeface="+mn-ea"/>
              <a:cs typeface="Malgun Gothic"/>
            </a:endParaRPr>
          </a:p>
        </p:txBody>
      </p:sp>
    </p:spTree>
    <p:extLst>
      <p:ext uri="{BB962C8B-B14F-4D97-AF65-F5344CB8AC3E}">
        <p14:creationId xmlns:p14="http://schemas.microsoft.com/office/powerpoint/2010/main" val="276889678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208504" y="6486875"/>
            <a:ext cx="1705610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b="1" dirty="0">
                <a:solidFill>
                  <a:srgbClr val="1F497D"/>
                </a:solidFill>
                <a:latin typeface="Times New Roman"/>
                <a:cs typeface="Times New Roman"/>
              </a:rPr>
              <a:t>Image </a:t>
            </a:r>
            <a:r>
              <a:rPr sz="1400" b="1" spc="-5" dirty="0">
                <a:solidFill>
                  <a:srgbClr val="1F497D"/>
                </a:solidFill>
                <a:latin typeface="Times New Roman"/>
                <a:cs typeface="Times New Roman"/>
              </a:rPr>
              <a:t>Processing</a:t>
            </a:r>
            <a:r>
              <a:rPr sz="1400" b="1" spc="-70" dirty="0">
                <a:solidFill>
                  <a:srgbClr val="1F497D"/>
                </a:solidFill>
                <a:latin typeface="Times New Roman"/>
                <a:cs typeface="Times New Roman"/>
              </a:rPr>
              <a:t> </a:t>
            </a:r>
            <a:r>
              <a:rPr sz="1400" b="1" dirty="0">
                <a:solidFill>
                  <a:srgbClr val="1F497D"/>
                </a:solidFill>
                <a:latin typeface="Times New Roman"/>
                <a:cs typeface="Times New Roman"/>
              </a:rPr>
              <a:t>Lab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574040" y="609888"/>
            <a:ext cx="2550160" cy="32124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ko-KR" altLang="en-US" dirty="0">
                <a:latin typeface="Times New Roman"/>
                <a:cs typeface="Times New Roman"/>
              </a:rPr>
              <a:t>기대효과 및 결론</a:t>
            </a:r>
            <a:endParaRPr dirty="0"/>
          </a:p>
        </p:txBody>
      </p:sp>
      <p:sp>
        <p:nvSpPr>
          <p:cNvPr id="4" name="object 4"/>
          <p:cNvSpPr txBox="1"/>
          <p:nvPr/>
        </p:nvSpPr>
        <p:spPr>
          <a:xfrm>
            <a:off x="574040" y="1124817"/>
            <a:ext cx="8080375" cy="77777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99085" indent="-287020">
              <a:lnSpc>
                <a:spcPct val="100000"/>
              </a:lnSpc>
              <a:spcBef>
                <a:spcPts val="105"/>
              </a:spcBef>
              <a:buFont typeface="Wingdings"/>
              <a:buChar char=""/>
              <a:tabLst>
                <a:tab pos="299720" algn="l"/>
              </a:tabLst>
            </a:pPr>
            <a:r>
              <a:rPr lang="en-US" altLang="ko-KR" sz="2000" spc="-5" dirty="0">
                <a:solidFill>
                  <a:srgbClr val="558ED5"/>
                </a:solidFill>
                <a:latin typeface="+mn-ea"/>
                <a:cs typeface="Malgun Gothic"/>
              </a:rPr>
              <a:t>??</a:t>
            </a:r>
            <a:endParaRPr sz="2000" dirty="0">
              <a:latin typeface="+mn-ea"/>
              <a:cs typeface="Malgun Gothic"/>
            </a:endParaRPr>
          </a:p>
          <a:p>
            <a:pPr marL="690880" lvl="1" indent="-287655">
              <a:lnSpc>
                <a:spcPct val="100000"/>
              </a:lnSpc>
              <a:spcBef>
                <a:spcPts val="1440"/>
              </a:spcBef>
              <a:buChar char="-"/>
              <a:tabLst>
                <a:tab pos="690880" algn="l"/>
                <a:tab pos="691515" algn="l"/>
              </a:tabLst>
            </a:pPr>
            <a:r>
              <a:rPr lang="en-US" altLang="ko-KR" sz="1800" dirty="0">
                <a:latin typeface="+mn-ea"/>
                <a:cs typeface="Gulim"/>
              </a:rPr>
              <a:t>??</a:t>
            </a:r>
            <a:endParaRPr sz="1800" dirty="0">
              <a:latin typeface="+mn-ea"/>
              <a:cs typeface="Gulim"/>
            </a:endParaRPr>
          </a:p>
        </p:txBody>
      </p:sp>
    </p:spTree>
    <p:extLst>
      <p:ext uri="{BB962C8B-B14F-4D97-AF65-F5344CB8AC3E}">
        <p14:creationId xmlns:p14="http://schemas.microsoft.com/office/powerpoint/2010/main" val="382540113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208504" y="6486875"/>
            <a:ext cx="1705610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b="1" dirty="0">
                <a:solidFill>
                  <a:srgbClr val="1F497D"/>
                </a:solidFill>
                <a:latin typeface="Times New Roman"/>
                <a:cs typeface="Times New Roman"/>
              </a:rPr>
              <a:t>Image </a:t>
            </a:r>
            <a:r>
              <a:rPr sz="1400" b="1" spc="-5" dirty="0">
                <a:solidFill>
                  <a:srgbClr val="1F497D"/>
                </a:solidFill>
                <a:latin typeface="Times New Roman"/>
                <a:cs typeface="Times New Roman"/>
              </a:rPr>
              <a:t>Processing</a:t>
            </a:r>
            <a:r>
              <a:rPr sz="1400" b="1" spc="-70" dirty="0">
                <a:solidFill>
                  <a:srgbClr val="1F497D"/>
                </a:solidFill>
                <a:latin typeface="Times New Roman"/>
                <a:cs typeface="Times New Roman"/>
              </a:rPr>
              <a:t> </a:t>
            </a:r>
            <a:r>
              <a:rPr sz="1400" b="1" dirty="0">
                <a:solidFill>
                  <a:srgbClr val="1F497D"/>
                </a:solidFill>
                <a:latin typeface="Times New Roman"/>
                <a:cs typeface="Times New Roman"/>
              </a:rPr>
              <a:t>Lab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574040" y="609888"/>
            <a:ext cx="2626360" cy="32124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ko-KR" altLang="en-US" dirty="0">
                <a:latin typeface="Times New Roman"/>
                <a:cs typeface="Times New Roman"/>
              </a:rPr>
              <a:t>결과물의 목록</a:t>
            </a:r>
            <a:endParaRPr dirty="0"/>
          </a:p>
        </p:txBody>
      </p:sp>
      <p:sp>
        <p:nvSpPr>
          <p:cNvPr id="4" name="object 4"/>
          <p:cNvSpPr txBox="1"/>
          <p:nvPr/>
        </p:nvSpPr>
        <p:spPr>
          <a:xfrm>
            <a:off x="574040" y="1124817"/>
            <a:ext cx="8950960" cy="1098378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99085" indent="-287020">
              <a:lnSpc>
                <a:spcPct val="100000"/>
              </a:lnSpc>
              <a:spcBef>
                <a:spcPts val="105"/>
              </a:spcBef>
              <a:buFont typeface="Wingdings"/>
              <a:buChar char=""/>
              <a:tabLst>
                <a:tab pos="299720" algn="l"/>
              </a:tabLst>
            </a:pPr>
            <a:r>
              <a:rPr lang="ko-KR" altLang="en-US" sz="2000" spc="-5" dirty="0">
                <a:solidFill>
                  <a:srgbClr val="558ED5"/>
                </a:solidFill>
                <a:latin typeface="+mn-ea"/>
                <a:cs typeface="Malgun Gothic"/>
              </a:rPr>
              <a:t>서비스 </a:t>
            </a:r>
            <a:r>
              <a:rPr lang="en-US" altLang="ko-KR" sz="2000" spc="-5" dirty="0">
                <a:solidFill>
                  <a:srgbClr val="558ED5"/>
                </a:solidFill>
                <a:latin typeface="+mn-ea"/>
                <a:cs typeface="Malgun Gothic"/>
              </a:rPr>
              <a:t>URL :  </a:t>
            </a:r>
            <a:r>
              <a:rPr lang="en-US" altLang="ko-KR" sz="2000" i="1" spc="-5" dirty="0">
                <a:solidFill>
                  <a:srgbClr val="FF0000"/>
                </a:solidFill>
                <a:latin typeface="+mn-ea"/>
                <a:cs typeface="Malgun Gothic"/>
              </a:rPr>
              <a:t>http://</a:t>
            </a:r>
            <a:r>
              <a:rPr lang="en-US" altLang="ko-KR" sz="2000" i="1" spc="-5" dirty="0" err="1">
                <a:solidFill>
                  <a:srgbClr val="FF0000"/>
                </a:solidFill>
                <a:latin typeface="+mn-ea"/>
                <a:cs typeface="Malgun Gothic"/>
              </a:rPr>
              <a:t>xxx.xxx.xxx</a:t>
            </a:r>
            <a:endParaRPr lang="en-US" altLang="ko-KR" sz="2000" i="1" spc="-5" dirty="0">
              <a:solidFill>
                <a:srgbClr val="FF0000"/>
              </a:solidFill>
              <a:latin typeface="+mn-ea"/>
              <a:cs typeface="Malgun Gothic"/>
            </a:endParaRPr>
          </a:p>
          <a:p>
            <a:pPr marL="299085" indent="-287020">
              <a:lnSpc>
                <a:spcPct val="100000"/>
              </a:lnSpc>
              <a:spcBef>
                <a:spcPts val="105"/>
              </a:spcBef>
              <a:buFont typeface="Wingdings"/>
              <a:buChar char=""/>
              <a:tabLst>
                <a:tab pos="299720" algn="l"/>
              </a:tabLst>
            </a:pPr>
            <a:r>
              <a:rPr lang="ko-KR" altLang="en-US" sz="2000" spc="-5" dirty="0">
                <a:solidFill>
                  <a:srgbClr val="558ED5"/>
                </a:solidFill>
                <a:latin typeface="+mn-ea"/>
                <a:cs typeface="Malgun Gothic"/>
              </a:rPr>
              <a:t>소스코드 </a:t>
            </a:r>
            <a:r>
              <a:rPr lang="en-US" altLang="ko-KR" sz="2000" spc="-5" dirty="0">
                <a:solidFill>
                  <a:srgbClr val="558ED5"/>
                </a:solidFill>
                <a:latin typeface="+mn-ea"/>
                <a:cs typeface="Malgun Gothic"/>
              </a:rPr>
              <a:t>git </a:t>
            </a:r>
            <a:r>
              <a:rPr lang="ko-KR" altLang="en-US" sz="2000" spc="-5" dirty="0">
                <a:solidFill>
                  <a:srgbClr val="558ED5"/>
                </a:solidFill>
                <a:latin typeface="+mn-ea"/>
                <a:cs typeface="Malgun Gothic"/>
              </a:rPr>
              <a:t>주소 </a:t>
            </a:r>
            <a:r>
              <a:rPr lang="en-US" altLang="ko-KR" sz="2000" spc="-5" dirty="0">
                <a:solidFill>
                  <a:srgbClr val="558ED5"/>
                </a:solidFill>
                <a:latin typeface="+mn-ea"/>
                <a:cs typeface="Malgun Gothic"/>
              </a:rPr>
              <a:t>: </a:t>
            </a:r>
            <a:r>
              <a:rPr lang="en-US" altLang="ko-KR" sz="2000" i="1" spc="-5" dirty="0">
                <a:solidFill>
                  <a:srgbClr val="FF0000"/>
                </a:solidFill>
                <a:latin typeface="+mn-ea"/>
                <a:cs typeface="Malgun Gothic"/>
              </a:rPr>
              <a:t>https://github.com/mountainchwe/MobileWebFinalProj</a:t>
            </a:r>
            <a:endParaRPr sz="2000" dirty="0">
              <a:latin typeface="+mn-ea"/>
              <a:cs typeface="Malgun Gothic"/>
            </a:endParaRPr>
          </a:p>
          <a:p>
            <a:pPr marL="690880" lvl="1" indent="-287655">
              <a:lnSpc>
                <a:spcPct val="100000"/>
              </a:lnSpc>
              <a:spcBef>
                <a:spcPts val="1440"/>
              </a:spcBef>
              <a:buChar char="-"/>
              <a:tabLst>
                <a:tab pos="690880" algn="l"/>
                <a:tab pos="691515" algn="l"/>
              </a:tabLst>
            </a:pPr>
            <a:r>
              <a:rPr lang="ko-KR" altLang="en-US" i="1" dirty="0">
                <a:solidFill>
                  <a:srgbClr val="FF0000"/>
                </a:solidFill>
                <a:latin typeface="+mn-ea"/>
                <a:cs typeface="Gulim"/>
              </a:rPr>
              <a:t>폴더 형식 </a:t>
            </a:r>
            <a:endParaRPr lang="en-US" altLang="ko-KR" i="1" dirty="0">
              <a:solidFill>
                <a:srgbClr val="FF0000"/>
              </a:solidFill>
              <a:latin typeface="+mn-ea"/>
              <a:cs typeface="Gulim"/>
            </a:endParaRPr>
          </a:p>
        </p:txBody>
      </p: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BDE730AC-CFC8-5EDF-860C-36BC23E2E541}"/>
              </a:ext>
            </a:extLst>
          </p:cNvPr>
          <p:cNvGrpSpPr/>
          <p:nvPr/>
        </p:nvGrpSpPr>
        <p:grpSpPr>
          <a:xfrm>
            <a:off x="1905000" y="2334178"/>
            <a:ext cx="7315200" cy="1704422"/>
            <a:chOff x="2057400" y="2133600"/>
            <a:chExt cx="7315200" cy="1704422"/>
          </a:xfrm>
        </p:grpSpPr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9DD1A18B-E207-63B8-B8C7-5E192BFB88DE}"/>
                </a:ext>
              </a:extLst>
            </p:cNvPr>
            <p:cNvSpPr/>
            <p:nvPr/>
          </p:nvSpPr>
          <p:spPr>
            <a:xfrm>
              <a:off x="2057400" y="2133600"/>
              <a:ext cx="1981200" cy="43399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ore-KR" dirty="0"/>
                <a:t>Root</a:t>
              </a:r>
              <a:endParaRPr kumimoji="1" lang="ko-Kore-KR" altLang="en-US" dirty="0"/>
            </a:p>
          </p:txBody>
        </p: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10597A4C-A41B-4751-3E12-A7B7CFF451AC}"/>
                </a:ext>
              </a:extLst>
            </p:cNvPr>
            <p:cNvSpPr/>
            <p:nvPr/>
          </p:nvSpPr>
          <p:spPr>
            <a:xfrm>
              <a:off x="4614227" y="2141483"/>
              <a:ext cx="1981200" cy="43399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ore-KR" dirty="0" err="1"/>
                <a:t>Edge_System</a:t>
              </a:r>
              <a:endParaRPr kumimoji="1" lang="ko-Kore-KR" altLang="en-US" dirty="0"/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038A63B9-CA00-D283-FA1D-A78E4A936BCE}"/>
                </a:ext>
              </a:extLst>
            </p:cNvPr>
            <p:cNvSpPr/>
            <p:nvPr/>
          </p:nvSpPr>
          <p:spPr>
            <a:xfrm>
              <a:off x="4614227" y="2772756"/>
              <a:ext cx="1981200" cy="43399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ore-KR" dirty="0" err="1"/>
                <a:t>Service_System</a:t>
              </a:r>
              <a:endParaRPr kumimoji="1" lang="ko-Kore-KR" altLang="en-US" dirty="0"/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A3C426F6-AC55-20D4-8C98-F4D88F05621F}"/>
                </a:ext>
              </a:extLst>
            </p:cNvPr>
            <p:cNvSpPr/>
            <p:nvPr/>
          </p:nvSpPr>
          <p:spPr>
            <a:xfrm>
              <a:off x="4614227" y="3404029"/>
              <a:ext cx="1981200" cy="43399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ore-KR" dirty="0" err="1"/>
                <a:t>Client_System</a:t>
              </a:r>
              <a:endParaRPr kumimoji="1" lang="ko-Kore-KR" altLang="en-US" dirty="0"/>
            </a:p>
          </p:txBody>
        </p:sp>
        <p:cxnSp>
          <p:nvCxnSpPr>
            <p:cNvPr id="10" name="직선 연결선[R] 9">
              <a:extLst>
                <a:ext uri="{FF2B5EF4-FFF2-40B4-BE49-F238E27FC236}">
                  <a16:creationId xmlns:a16="http://schemas.microsoft.com/office/drawing/2014/main" id="{858EB992-DFBD-5465-1B8D-7ACF2C5660BA}"/>
                </a:ext>
              </a:extLst>
            </p:cNvPr>
            <p:cNvCxnSpPr>
              <a:cxnSpLocks/>
              <a:stCxn id="5" idx="3"/>
              <a:endCxn id="6" idx="1"/>
            </p:cNvCxnSpPr>
            <p:nvPr/>
          </p:nvCxnSpPr>
          <p:spPr>
            <a:xfrm>
              <a:off x="4038600" y="2350597"/>
              <a:ext cx="575627" cy="788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꺾인 연결선[E] 12">
              <a:extLst>
                <a:ext uri="{FF2B5EF4-FFF2-40B4-BE49-F238E27FC236}">
                  <a16:creationId xmlns:a16="http://schemas.microsoft.com/office/drawing/2014/main" id="{FB351BE6-61C4-1769-DB81-F2487B261252}"/>
                </a:ext>
              </a:extLst>
            </p:cNvPr>
            <p:cNvCxnSpPr>
              <a:cxnSpLocks/>
              <a:stCxn id="5" idx="3"/>
              <a:endCxn id="7" idx="1"/>
            </p:cNvCxnSpPr>
            <p:nvPr/>
          </p:nvCxnSpPr>
          <p:spPr>
            <a:xfrm>
              <a:off x="4038600" y="2350597"/>
              <a:ext cx="575627" cy="639156"/>
            </a:xfrm>
            <a:prstGeom prst="bentConnector3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꺾인 연결선[E] 14">
              <a:extLst>
                <a:ext uri="{FF2B5EF4-FFF2-40B4-BE49-F238E27FC236}">
                  <a16:creationId xmlns:a16="http://schemas.microsoft.com/office/drawing/2014/main" id="{4CF0E49F-C012-5CDF-E9E9-B10B1E9996B8}"/>
                </a:ext>
              </a:extLst>
            </p:cNvPr>
            <p:cNvCxnSpPr>
              <a:cxnSpLocks/>
              <a:stCxn id="5" idx="3"/>
              <a:endCxn id="8" idx="1"/>
            </p:cNvCxnSpPr>
            <p:nvPr/>
          </p:nvCxnSpPr>
          <p:spPr>
            <a:xfrm>
              <a:off x="4038600" y="2350597"/>
              <a:ext cx="575627" cy="1270429"/>
            </a:xfrm>
            <a:prstGeom prst="bentConnector3">
              <a:avLst>
                <a:gd name="adj1" fmla="val 50000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왼쪽 화살표[L] 19">
              <a:extLst>
                <a:ext uri="{FF2B5EF4-FFF2-40B4-BE49-F238E27FC236}">
                  <a16:creationId xmlns:a16="http://schemas.microsoft.com/office/drawing/2014/main" id="{B287C82F-48F4-5176-B993-CA6D56492D90}"/>
                </a:ext>
              </a:extLst>
            </p:cNvPr>
            <p:cNvSpPr/>
            <p:nvPr/>
          </p:nvSpPr>
          <p:spPr>
            <a:xfrm>
              <a:off x="7086600" y="2141484"/>
              <a:ext cx="2286000" cy="426110"/>
            </a:xfrm>
            <a:prstGeom prst="leftArrow">
              <a:avLst>
                <a:gd name="adj1" fmla="val 74666"/>
                <a:gd name="adj2" fmla="val 500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ore-KR" dirty="0">
                  <a:solidFill>
                    <a:schemeClr val="bg1"/>
                  </a:solidFill>
                </a:rPr>
                <a:t>YOLO</a:t>
              </a:r>
              <a:endParaRPr kumimoji="1" lang="ko-Kore-KR" altLang="en-US" dirty="0">
                <a:solidFill>
                  <a:schemeClr val="bg1"/>
                </a:solidFill>
              </a:endParaRPr>
            </a:p>
          </p:txBody>
        </p:sp>
        <p:sp>
          <p:nvSpPr>
            <p:cNvPr id="21" name="왼쪽 화살표[L] 20">
              <a:extLst>
                <a:ext uri="{FF2B5EF4-FFF2-40B4-BE49-F238E27FC236}">
                  <a16:creationId xmlns:a16="http://schemas.microsoft.com/office/drawing/2014/main" id="{661CE047-42BA-0835-FBBF-825A7534441E}"/>
                </a:ext>
              </a:extLst>
            </p:cNvPr>
            <p:cNvSpPr/>
            <p:nvPr/>
          </p:nvSpPr>
          <p:spPr>
            <a:xfrm>
              <a:off x="7086600" y="2780639"/>
              <a:ext cx="2286000" cy="426110"/>
            </a:xfrm>
            <a:prstGeom prst="leftArrow">
              <a:avLst>
                <a:gd name="adj1" fmla="val 74666"/>
                <a:gd name="adj2" fmla="val 500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ore-KR" dirty="0">
                  <a:solidFill>
                    <a:schemeClr val="bg1"/>
                  </a:solidFill>
                </a:rPr>
                <a:t>Django</a:t>
              </a:r>
              <a:endParaRPr kumimoji="1" lang="ko-Kore-KR" altLang="en-US" dirty="0">
                <a:solidFill>
                  <a:schemeClr val="bg1"/>
                </a:solidFill>
              </a:endParaRPr>
            </a:p>
          </p:txBody>
        </p:sp>
        <p:sp>
          <p:nvSpPr>
            <p:cNvPr id="22" name="왼쪽 화살표[L] 21">
              <a:extLst>
                <a:ext uri="{FF2B5EF4-FFF2-40B4-BE49-F238E27FC236}">
                  <a16:creationId xmlns:a16="http://schemas.microsoft.com/office/drawing/2014/main" id="{A1F7652F-28B4-2D24-DA8F-C647A6995155}"/>
                </a:ext>
              </a:extLst>
            </p:cNvPr>
            <p:cNvSpPr/>
            <p:nvPr/>
          </p:nvSpPr>
          <p:spPr>
            <a:xfrm>
              <a:off x="7086600" y="3407970"/>
              <a:ext cx="2286000" cy="426110"/>
            </a:xfrm>
            <a:prstGeom prst="leftArrow">
              <a:avLst>
                <a:gd name="adj1" fmla="val 74666"/>
                <a:gd name="adj2" fmla="val 500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ore-KR" dirty="0">
                  <a:solidFill>
                    <a:schemeClr val="bg1"/>
                  </a:solidFill>
                </a:rPr>
                <a:t>Android, Native App</a:t>
              </a:r>
              <a:endParaRPr kumimoji="1" lang="ko-Kore-KR" altLang="en-US" dirty="0">
                <a:solidFill>
                  <a:schemeClr val="bg1"/>
                </a:solidFill>
              </a:endParaRPr>
            </a:p>
          </p:txBody>
        </p:sp>
      </p:grpSp>
      <p:sp>
        <p:nvSpPr>
          <p:cNvPr id="9" name="직사각형 8">
            <a:extLst>
              <a:ext uri="{FF2B5EF4-FFF2-40B4-BE49-F238E27FC236}">
                <a16:creationId xmlns:a16="http://schemas.microsoft.com/office/drawing/2014/main" id="{0B6B96D8-C469-DA52-92DD-BE63EAF5557F}"/>
              </a:ext>
            </a:extLst>
          </p:cNvPr>
          <p:cNvSpPr/>
          <p:nvPr/>
        </p:nvSpPr>
        <p:spPr>
          <a:xfrm>
            <a:off x="4491210" y="4267200"/>
            <a:ext cx="4267200" cy="4339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altLang="ko-KR" sz="1800" spc="-5" dirty="0" err="1">
                <a:solidFill>
                  <a:srgbClr val="FFFFFF"/>
                </a:solidFill>
                <a:latin typeface="Times New Roman"/>
                <a:cs typeface="Times New Roman"/>
              </a:rPr>
              <a:t>FinalTerm</a:t>
            </a:r>
            <a:r>
              <a:rPr lang="en-US" altLang="ko-KR" sz="1800" spc="-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lang="ko-KR" altLang="en-US" sz="1800" spc="-5" dirty="0">
                <a:solidFill>
                  <a:srgbClr val="FFFFFF"/>
                </a:solidFill>
                <a:latin typeface="Times New Roman"/>
                <a:cs typeface="Times New Roman"/>
              </a:rPr>
              <a:t>보고서</a:t>
            </a:r>
            <a:r>
              <a:rPr lang="en-US" altLang="ko-KR" sz="1800" spc="-5" dirty="0">
                <a:solidFill>
                  <a:srgbClr val="FFFFFF"/>
                </a:solidFill>
                <a:latin typeface="Times New Roman"/>
                <a:cs typeface="Times New Roman"/>
              </a:rPr>
              <a:t>.</a:t>
            </a:r>
            <a:r>
              <a:rPr lang="en-US" altLang="ko-KR" spc="-5" dirty="0">
                <a:solidFill>
                  <a:srgbClr val="FFFFFF"/>
                </a:solidFill>
                <a:latin typeface="Times New Roman"/>
                <a:cs typeface="Times New Roman"/>
              </a:rPr>
              <a:t>pptx</a:t>
            </a:r>
            <a:endParaRPr lang="ko-KR" altLang="en-US" sz="1800" dirty="0">
              <a:latin typeface="Times New Roman"/>
              <a:cs typeface="Times New Roman"/>
            </a:endParaRPr>
          </a:p>
        </p:txBody>
      </p:sp>
      <p:cxnSp>
        <p:nvCxnSpPr>
          <p:cNvPr id="11" name="꺾인 연결선[E] 10">
            <a:extLst>
              <a:ext uri="{FF2B5EF4-FFF2-40B4-BE49-F238E27FC236}">
                <a16:creationId xmlns:a16="http://schemas.microsoft.com/office/drawing/2014/main" id="{4815B585-13F2-2774-E3B0-9AF5359FBF4F}"/>
              </a:ext>
            </a:extLst>
          </p:cNvPr>
          <p:cNvCxnSpPr>
            <a:cxnSpLocks/>
            <a:stCxn id="5" idx="3"/>
            <a:endCxn id="9" idx="1"/>
          </p:cNvCxnSpPr>
          <p:nvPr/>
        </p:nvCxnSpPr>
        <p:spPr>
          <a:xfrm>
            <a:off x="3886200" y="2551175"/>
            <a:ext cx="605010" cy="193302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5EED7E21-5A52-D56E-9176-B51368D7472C}"/>
              </a:ext>
            </a:extLst>
          </p:cNvPr>
          <p:cNvSpPr/>
          <p:nvPr/>
        </p:nvSpPr>
        <p:spPr>
          <a:xfrm>
            <a:off x="4495800" y="4876800"/>
            <a:ext cx="4267200" cy="4339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2700">
              <a:spcBef>
                <a:spcPts val="100"/>
              </a:spcBef>
            </a:pPr>
            <a:r>
              <a:rPr lang="en-US" altLang="ko-KR" sz="1800" spc="-5" dirty="0" err="1">
                <a:solidFill>
                  <a:srgbClr val="FFFFFF"/>
                </a:solidFill>
                <a:latin typeface="Times New Roman"/>
                <a:cs typeface="Times New Roman"/>
              </a:rPr>
              <a:t>url.txt</a:t>
            </a:r>
            <a:r>
              <a:rPr lang="en-US" altLang="ko-KR" sz="1800" spc="-5" dirty="0">
                <a:solidFill>
                  <a:srgbClr val="FFFFFF"/>
                </a:solidFill>
                <a:latin typeface="Times New Roman"/>
                <a:cs typeface="Times New Roman"/>
              </a:rPr>
              <a:t> (</a:t>
            </a:r>
            <a:r>
              <a:rPr lang="ko-KR" altLang="en-US" sz="1800" spc="-5" dirty="0">
                <a:solidFill>
                  <a:srgbClr val="FFFFFF"/>
                </a:solidFill>
                <a:latin typeface="Times New Roman"/>
                <a:cs typeface="Times New Roman"/>
              </a:rPr>
              <a:t>서비스 </a:t>
            </a:r>
            <a:r>
              <a:rPr lang="en-US" altLang="ko-KR" sz="1800" spc="-5" dirty="0">
                <a:solidFill>
                  <a:srgbClr val="FFFFFF"/>
                </a:solidFill>
                <a:latin typeface="Times New Roman"/>
                <a:cs typeface="Times New Roman"/>
              </a:rPr>
              <a:t>URL,</a:t>
            </a:r>
            <a:r>
              <a:rPr lang="ko-KR" altLang="en-US" sz="1800" spc="-5" dirty="0">
                <a:solidFill>
                  <a:srgbClr val="FFFFFF"/>
                </a:solidFill>
                <a:latin typeface="Times New Roman"/>
                <a:cs typeface="Times New Roman"/>
              </a:rPr>
              <a:t> 소스코드 </a:t>
            </a:r>
            <a:r>
              <a:rPr lang="en-US" altLang="ko-KR" sz="1800" spc="-5" dirty="0">
                <a:solidFill>
                  <a:srgbClr val="FFFFFF"/>
                </a:solidFill>
                <a:latin typeface="Times New Roman"/>
                <a:cs typeface="Times New Roman"/>
              </a:rPr>
              <a:t>git </a:t>
            </a:r>
            <a:r>
              <a:rPr lang="ko-KR" altLang="en-US" sz="1800" spc="-5" dirty="0">
                <a:solidFill>
                  <a:srgbClr val="FFFFFF"/>
                </a:solidFill>
                <a:latin typeface="Times New Roman"/>
                <a:cs typeface="Times New Roman"/>
              </a:rPr>
              <a:t>주소</a:t>
            </a:r>
            <a:r>
              <a:rPr lang="en-US" altLang="ko-KR" sz="1800" spc="-5" dirty="0">
                <a:solidFill>
                  <a:srgbClr val="FFFFFF"/>
                </a:solidFill>
                <a:latin typeface="Times New Roman"/>
                <a:cs typeface="Times New Roman"/>
              </a:rPr>
              <a:t>) </a:t>
            </a:r>
            <a:endParaRPr lang="ko-KR" altLang="en-US" sz="1800" dirty="0">
              <a:latin typeface="Times New Roman"/>
              <a:cs typeface="Times New Roman"/>
            </a:endParaRPr>
          </a:p>
        </p:txBody>
      </p:sp>
      <p:cxnSp>
        <p:nvCxnSpPr>
          <p:cNvPr id="19" name="꺾인 연결선[E] 18">
            <a:extLst>
              <a:ext uri="{FF2B5EF4-FFF2-40B4-BE49-F238E27FC236}">
                <a16:creationId xmlns:a16="http://schemas.microsoft.com/office/drawing/2014/main" id="{042AADFF-B6E9-FD53-205F-AE4D1443BC06}"/>
              </a:ext>
            </a:extLst>
          </p:cNvPr>
          <p:cNvCxnSpPr>
            <a:cxnSpLocks/>
            <a:stCxn id="5" idx="3"/>
            <a:endCxn id="18" idx="1"/>
          </p:cNvCxnSpPr>
          <p:nvPr/>
        </p:nvCxnSpPr>
        <p:spPr>
          <a:xfrm>
            <a:off x="3886200" y="2551175"/>
            <a:ext cx="609600" cy="254262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426632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5543</TotalTime>
  <Words>1139</Words>
  <Application>Microsoft Office PowerPoint</Application>
  <PresentationFormat>A4 Paper (210x297 mm)</PresentationFormat>
  <Paragraphs>174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4" baseType="lpstr">
      <vt:lpstr>Malgun Gothic</vt:lpstr>
      <vt:lpstr>Arial</vt:lpstr>
      <vt:lpstr>Calibri</vt:lpstr>
      <vt:lpstr>Consolas</vt:lpstr>
      <vt:lpstr>Times New Roman</vt:lpstr>
      <vt:lpstr>Wingdings</vt:lpstr>
      <vt:lpstr>Office Theme</vt:lpstr>
      <vt:lpstr>Mobile/WebService Project</vt:lpstr>
      <vt:lpstr>목차</vt:lpstr>
      <vt:lpstr>요구조건</vt:lpstr>
      <vt:lpstr>시스템 구성도</vt:lpstr>
      <vt:lpstr>목적</vt:lpstr>
      <vt:lpstr>필요성</vt:lpstr>
      <vt:lpstr>기능 - 조건대비표</vt:lpstr>
      <vt:lpstr>기능 - 1. Edge System(Python 기반, 공통)</vt:lpstr>
      <vt:lpstr>기능 - 1. Edge System(Python 기반, 공통)</vt:lpstr>
      <vt:lpstr>기능 - 2. Service System(Python, Django 기반)</vt:lpstr>
      <vt:lpstr>기능 - 2. Service System(Python, Django 기반)</vt:lpstr>
      <vt:lpstr>기능 - 3. Client System(Android, Java기반, 개별 제안)</vt:lpstr>
      <vt:lpstr>기능(부족한 설명 추거, 신규 또는 추가 기능 중심, 페이지 추가 가능)</vt:lpstr>
      <vt:lpstr>사용자 시나리오(Ui 구성)</vt:lpstr>
      <vt:lpstr>데모(구동 동영상, mp4 동영상 파일을 추가 함)</vt:lpstr>
      <vt:lpstr>기대효과 및 결론</vt:lpstr>
      <vt:lpstr>결과물의 목록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안기옥</dc:creator>
  <cp:lastModifiedBy>BINTI ZAIDIAMRIUMAIRA YUSRA</cp:lastModifiedBy>
  <cp:revision>62</cp:revision>
  <dcterms:created xsi:type="dcterms:W3CDTF">2020-06-08T19:34:44Z</dcterms:created>
  <dcterms:modified xsi:type="dcterms:W3CDTF">2025-12-20T06:08:12Z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2018-05-10T00:00:00Z</vt:filetime>
  </property>
  <property fmtid="{D5CDD505-2E9C-101B-9397-08002B2CF9AE}" pid="3" name="Creator">
    <vt:lpwstr>PowerPoint용 Acrobat PDFMaker 15</vt:lpwstr>
  </property>
  <property fmtid="{D5CDD505-2E9C-101B-9397-08002B2CF9AE}" pid="4" name="LastSaved">
    <vt:filetime>2020-06-08T00:00:00Z</vt:filetime>
  </property>
</Properties>
</file>