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6.jpg" ContentType="image/jpeg"/>
  <Override PartName="/ppt/media/image2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35" r:id="rId7"/>
    <p:sldId id="336" r:id="rId8"/>
    <p:sldId id="344" r:id="rId9"/>
    <p:sldId id="349" r:id="rId10"/>
    <p:sldId id="346" r:id="rId11"/>
    <p:sldId id="347" r:id="rId12"/>
    <p:sldId id="348" r:id="rId13"/>
    <p:sldId id="343" r:id="rId14"/>
    <p:sldId id="337" r:id="rId15"/>
    <p:sldId id="340" r:id="rId16"/>
    <p:sldId id="338" r:id="rId17"/>
    <p:sldId id="341" r:id="rId18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6"/>
    <p:restoredTop sz="94658"/>
  </p:normalViewPr>
  <p:slideViewPr>
    <p:cSldViewPr>
      <p:cViewPr varScale="1">
        <p:scale>
          <a:sx n="59" d="100"/>
          <a:sy n="59" d="100"/>
        </p:scale>
        <p:origin x="1660" y="52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1.png"/><Relationship Id="rId3" Type="http://schemas.openxmlformats.org/officeDocument/2006/relationships/image" Target="../media/image7.png"/><Relationship Id="rId21" Type="http://schemas.openxmlformats.org/officeDocument/2006/relationships/image" Target="../media/image24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hyperlink" Target="https://openclipart.org/detail/212967/orange-rounded-button-by-matheszabi-212967" TargetMode="External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XXX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양식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, PPT</a:t>
            </a:r>
            <a:r>
              <a:rPr lang="ko-KR" altLang="en-US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파일로 제출</a:t>
            </a:r>
            <a:r>
              <a:rPr lang="en-US" altLang="ko-KR" sz="36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3600" i="1" spc="-5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2022100298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UMAIRA YUSRA</a:t>
            </a:r>
            <a:endParaRPr sz="2400" i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49532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658644-18C5-09E3-5A99-583969E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18" y="2590800"/>
            <a:ext cx="2030258" cy="2788687"/>
          </a:xfrm>
          <a:prstGeom prst="rect">
            <a:avLst/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2AE3B60-BC96-6ABB-6C4A-5C973F50649C}"/>
              </a:ext>
            </a:extLst>
          </p:cNvPr>
          <p:cNvSpPr/>
          <p:nvPr/>
        </p:nvSpPr>
        <p:spPr>
          <a:xfrm>
            <a:off x="3942441" y="2666999"/>
            <a:ext cx="2151817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11206EA-D141-C3C0-2DFF-A03FD7DA0CF1}"/>
              </a:ext>
            </a:extLst>
          </p:cNvPr>
          <p:cNvSpPr/>
          <p:nvPr/>
        </p:nvSpPr>
        <p:spPr>
          <a:xfrm>
            <a:off x="1941282" y="2667051"/>
            <a:ext cx="1543959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시스템 구성도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22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0F63D4D9-953B-2D1F-BFAF-1B1E31D2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51" y="4720803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35AF7C-5A98-242D-DB01-7C8B35B6A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653" y="3666899"/>
            <a:ext cx="522801" cy="463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DEE88C-C676-BE47-3735-11C43C5A1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238" y="4082001"/>
            <a:ext cx="870999" cy="870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631D6F-1A75-37D5-AD9C-77A50F1EF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569" y="2671424"/>
            <a:ext cx="971309" cy="647540"/>
          </a:xfrm>
          <a:prstGeom prst="rect">
            <a:avLst/>
          </a:prstGeom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E3AD6F-2BEC-050F-6ABD-67996DB94D9B}"/>
              </a:ext>
            </a:extLst>
          </p:cNvPr>
          <p:cNvSpPr/>
          <p:nvPr/>
        </p:nvSpPr>
        <p:spPr>
          <a:xfrm>
            <a:off x="2061309" y="3192267"/>
            <a:ext cx="1257632" cy="529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Change Detection</a:t>
            </a:r>
            <a:endParaRPr kumimoji="1" lang="ko-Kore-KR" altLang="en-US" sz="11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0186F94-C34A-B6E9-3EE6-4D66A3B4FDC6}"/>
              </a:ext>
            </a:extLst>
          </p:cNvPr>
          <p:cNvSpPr/>
          <p:nvPr/>
        </p:nvSpPr>
        <p:spPr>
          <a:xfrm>
            <a:off x="4031778" y="3395570"/>
            <a:ext cx="1368449" cy="7855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Intruder Detection</a:t>
            </a:r>
          </a:p>
          <a:p>
            <a:pPr algn="ctr"/>
            <a:r>
              <a:rPr kumimoji="1" lang="en-US" altLang="ko-Kore-KR" sz="1100" dirty="0"/>
              <a:t>(Django blog)</a:t>
            </a:r>
            <a:endParaRPr kumimoji="1" lang="ko-Kore-KR" altLang="en-US" sz="1100" dirty="0"/>
          </a:p>
        </p:txBody>
      </p:sp>
      <p:pic>
        <p:nvPicPr>
          <p:cNvPr id="26" name="Picture 13" descr="D:\Daum_Cloud\DaumCloud\20131220_스마트 협업테이블\01. Images\Database_3.png">
            <a:extLst>
              <a:ext uri="{FF2B5EF4-FFF2-40B4-BE49-F238E27FC236}">
                <a16:creationId xmlns:a16="http://schemas.microsoft.com/office/drawing/2014/main" id="{962EA651-522D-9C86-C725-0861A92F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06" y="4181145"/>
            <a:ext cx="594672" cy="6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D4EF574-AFE5-2436-6726-206CFC668E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2126" y="2671607"/>
            <a:ext cx="971309" cy="543326"/>
          </a:xfrm>
          <a:prstGeom prst="rect">
            <a:avLst/>
          </a:prstGeom>
        </p:spPr>
      </p:pic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9D1B64E9-B351-4B43-551D-F8B8F5CB930C}"/>
              </a:ext>
            </a:extLst>
          </p:cNvPr>
          <p:cNvCxnSpPr>
            <a:cxnSpLocks/>
            <a:stCxn id="24" idx="0"/>
            <a:endCxn id="9" idx="1"/>
          </p:cNvCxnSpPr>
          <p:nvPr/>
        </p:nvCxnSpPr>
        <p:spPr>
          <a:xfrm rot="5400000" flipH="1" flipV="1">
            <a:off x="3357811" y="2327509"/>
            <a:ext cx="197073" cy="15324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9B71CDA-9F6E-482A-5587-BB85509175DE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124237" y="4517500"/>
            <a:ext cx="37276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91AC4C0C-D37A-9B30-37F3-932EFFED37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5901" y="3680774"/>
            <a:ext cx="431435" cy="41462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AB7DE51-8636-F122-B35E-DF97F1590E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4119079"/>
            <a:ext cx="552835" cy="4146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3796987-A85F-E381-8EB8-DE0569E371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4661" y="3223161"/>
            <a:ext cx="395673" cy="4146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36151BF-7ED6-0715-36B9-4A83291C87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9717" y="2785772"/>
            <a:ext cx="421175" cy="41462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008D9B9-9672-F9F7-B1C9-CE4987F78C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6804" y="3223161"/>
            <a:ext cx="660400" cy="660400"/>
          </a:xfrm>
          <a:prstGeom prst="rect">
            <a:avLst/>
          </a:prstGeom>
        </p:spPr>
      </p:pic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ABCD8ECB-282A-6335-0B2A-8E0A1E5F558C}"/>
              </a:ext>
            </a:extLst>
          </p:cNvPr>
          <p:cNvCxnSpPr>
            <a:cxnSpLocks/>
            <a:stCxn id="9" idx="3"/>
            <a:endCxn id="50" idx="1"/>
          </p:cNvCxnSpPr>
          <p:nvPr/>
        </p:nvCxnSpPr>
        <p:spPr>
          <a:xfrm flipV="1">
            <a:off x="5193878" y="2993086"/>
            <a:ext cx="2175839" cy="210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A01F47-3330-C635-0239-9C3660364D09}"/>
              </a:ext>
            </a:extLst>
          </p:cNvPr>
          <p:cNvSpPr txBox="1"/>
          <p:nvPr/>
        </p:nvSpPr>
        <p:spPr>
          <a:xfrm>
            <a:off x="2729982" y="2702939"/>
            <a:ext cx="123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HTTP/Restful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API</a:t>
            </a:r>
            <a:endParaRPr kumimoji="1" lang="ko-Kore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27E028-B68C-DDC5-6C75-D317B32B0A67}"/>
              </a:ext>
            </a:extLst>
          </p:cNvPr>
          <p:cNvSpPr txBox="1"/>
          <p:nvPr/>
        </p:nvSpPr>
        <p:spPr>
          <a:xfrm>
            <a:off x="5429805" y="2702938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EEF8602-A224-866A-BC31-E8089D5E352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4716003" y="3086086"/>
            <a:ext cx="0" cy="309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1CDFA6-6AA4-2B01-173B-46645D590930}"/>
              </a:ext>
            </a:extLst>
          </p:cNvPr>
          <p:cNvSpPr txBox="1"/>
          <p:nvPr/>
        </p:nvSpPr>
        <p:spPr>
          <a:xfrm>
            <a:off x="4724400" y="3124200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F5EA3C39-7B5D-6748-BB13-44D60AC654A3}"/>
              </a:ext>
            </a:extLst>
          </p:cNvPr>
          <p:cNvSpPr/>
          <p:nvPr/>
        </p:nvSpPr>
        <p:spPr>
          <a:xfrm>
            <a:off x="4253616" y="4054333"/>
            <a:ext cx="94026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Image blog</a:t>
            </a:r>
            <a:endParaRPr kumimoji="1" lang="ko-Kore-KR" altLang="en-US" sz="1000" dirty="0"/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2A46386-DA7C-81F2-1F2E-3C2FFD0D31EB}"/>
              </a:ext>
            </a:extLst>
          </p:cNvPr>
          <p:cNvSpPr/>
          <p:nvPr/>
        </p:nvSpPr>
        <p:spPr>
          <a:xfrm>
            <a:off x="4031778" y="3402836"/>
            <a:ext cx="69262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REST API</a:t>
            </a:r>
            <a:endParaRPr kumimoji="1" lang="ko-Kore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7F2CF-5152-F03B-CCDD-A01F95E9695B}"/>
              </a:ext>
            </a:extLst>
          </p:cNvPr>
          <p:cNvSpPr txBox="1"/>
          <p:nvPr/>
        </p:nvSpPr>
        <p:spPr>
          <a:xfrm>
            <a:off x="3856074" y="31520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PORT:8000</a:t>
            </a:r>
            <a:endParaRPr kumimoji="1" lang="ko-Kore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54C7AC-6818-E540-E402-89B1617ED852}"/>
              </a:ext>
            </a:extLst>
          </p:cNvPr>
          <p:cNvSpPr txBox="1"/>
          <p:nvPr/>
        </p:nvSpPr>
        <p:spPr>
          <a:xfrm>
            <a:off x="4572000" y="2694801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PORT:8080</a:t>
            </a:r>
            <a:endParaRPr kumimoji="1" lang="ko-Kore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D9E07-B252-368F-6CC7-299C67EC932D}"/>
              </a:ext>
            </a:extLst>
          </p:cNvPr>
          <p:cNvSpPr txBox="1"/>
          <p:nvPr/>
        </p:nvSpPr>
        <p:spPr>
          <a:xfrm>
            <a:off x="1903368" y="5377056"/>
            <a:ext cx="15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&lt;EDGE SYSTEM&gt;</a:t>
            </a:r>
            <a:endParaRPr kumimoji="1" lang="ko-Kore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3C3EBE-3F71-2BF4-18BE-D4502915FCFA}"/>
              </a:ext>
            </a:extLst>
          </p:cNvPr>
          <p:cNvSpPr txBox="1"/>
          <p:nvPr/>
        </p:nvSpPr>
        <p:spPr>
          <a:xfrm>
            <a:off x="6800813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&lt;CLIENT&gt;</a:t>
            </a:r>
            <a:endParaRPr kumimoji="1" lang="ko-Kore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BDA-9BCA-D027-CC4E-8EEB922086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64586" y="4589324"/>
            <a:ext cx="431435" cy="4398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27456F-4861-74AE-96C0-B533B83ABB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1100" y="6115018"/>
            <a:ext cx="715339" cy="3576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2E289-E0B5-EAE3-9D1B-CDBDB0A7DFDF}"/>
              </a:ext>
            </a:extLst>
          </p:cNvPr>
          <p:cNvSpPr txBox="1"/>
          <p:nvPr/>
        </p:nvSpPr>
        <p:spPr>
          <a:xfrm>
            <a:off x="3960572" y="533400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&lt;SERVICE SYSTEM&gt;</a:t>
            </a:r>
            <a:endParaRPr kumimoji="1" lang="ko-Kore-KR" alt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D098B0-3694-0AD9-B92B-07FFF61854E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956251" y="2785225"/>
            <a:ext cx="431436" cy="169698"/>
          </a:xfrm>
          <a:prstGeom prst="rect">
            <a:avLst/>
          </a:prstGeom>
        </p:spPr>
      </p:pic>
      <p:cxnSp>
        <p:nvCxnSpPr>
          <p:cNvPr id="20" name="직선 화살표 연결선 11">
            <a:extLst>
              <a:ext uri="{FF2B5EF4-FFF2-40B4-BE49-F238E27FC236}">
                <a16:creationId xmlns:a16="http://schemas.microsoft.com/office/drawing/2014/main" id="{1217804E-4D0C-C430-4348-059D4F78A1F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8387687" y="2237705"/>
            <a:ext cx="351434" cy="63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bject 4">
            <a:extLst>
              <a:ext uri="{FF2B5EF4-FFF2-40B4-BE49-F238E27FC236}">
                <a16:creationId xmlns:a16="http://schemas.microsoft.com/office/drawing/2014/main" id="{1CBFCBAB-033E-815A-B006-E5D914AB0AC3}"/>
              </a:ext>
            </a:extLst>
          </p:cNvPr>
          <p:cNvSpPr txBox="1"/>
          <p:nvPr/>
        </p:nvSpPr>
        <p:spPr>
          <a:xfrm>
            <a:off x="6649558" y="2011646"/>
            <a:ext cx="310404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400" dirty="0">
                <a:latin typeface="+mn-ea"/>
                <a:cs typeface="Malgun Gothic"/>
              </a:rPr>
              <a:t>Filter blog posts: human detection only</a:t>
            </a:r>
            <a:endParaRPr sz="1400" dirty="0">
              <a:latin typeface="+mn-ea"/>
              <a:cs typeface="Malgun Gothic"/>
            </a:endParaRPr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5A3D9433-7474-C79B-4C56-FE1A54A74CE7}"/>
              </a:ext>
            </a:extLst>
          </p:cNvPr>
          <p:cNvSpPr txBox="1"/>
          <p:nvPr/>
        </p:nvSpPr>
        <p:spPr>
          <a:xfrm>
            <a:off x="7983172" y="2775916"/>
            <a:ext cx="1111173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000" dirty="0">
                <a:latin typeface="+mn-ea"/>
                <a:cs typeface="Malgun Gothic"/>
              </a:rPr>
              <a:t>button</a:t>
            </a:r>
            <a:endParaRPr sz="1400" dirty="0">
              <a:latin typeface="+mn-ea"/>
              <a:cs typeface="Malgun Gothic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8E4F773-3B5B-85F2-CD5A-86702DBE09A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121" y="3453601"/>
            <a:ext cx="1648020" cy="164802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424E271-6665-5F41-7DAD-DE49188977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28912" y="5126178"/>
            <a:ext cx="797854" cy="2356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07A8A-A117-F084-4D3B-B664B3E9CE1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45615" y="4729802"/>
            <a:ext cx="1047750" cy="32719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825158-FCC8-6ED3-0E4D-AA17A3C34D6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24080" y="5275116"/>
            <a:ext cx="609600" cy="162878"/>
          </a:xfrm>
          <a:prstGeom prst="rect">
            <a:avLst/>
          </a:prstGeom>
        </p:spPr>
      </p:pic>
      <p:cxnSp>
        <p:nvCxnSpPr>
          <p:cNvPr id="58" name="직선 화살표 연결선 11">
            <a:extLst>
              <a:ext uri="{FF2B5EF4-FFF2-40B4-BE49-F238E27FC236}">
                <a16:creationId xmlns:a16="http://schemas.microsoft.com/office/drawing/2014/main" id="{E971C2FE-EA34-8356-C189-FD466664AFF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851454" y="3898674"/>
            <a:ext cx="773562" cy="282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bject 4">
            <a:extLst>
              <a:ext uri="{FF2B5EF4-FFF2-40B4-BE49-F238E27FC236}">
                <a16:creationId xmlns:a16="http://schemas.microsoft.com/office/drawing/2014/main" id="{0E368405-4FB9-5BBC-FB46-32D4863C1544}"/>
              </a:ext>
            </a:extLst>
          </p:cNvPr>
          <p:cNvSpPr txBox="1"/>
          <p:nvPr/>
        </p:nvSpPr>
        <p:spPr>
          <a:xfrm>
            <a:off x="107208" y="3256016"/>
            <a:ext cx="2088118" cy="3956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200" dirty="0">
                <a:latin typeface="+mn-ea"/>
                <a:cs typeface="Malgun Gothic"/>
              </a:rPr>
              <a:t>Detects object at the front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sz="1200" dirty="0">
                <a:latin typeface="+mn-ea"/>
                <a:cs typeface="Malgun Gothic"/>
              </a:rPr>
              <a:t>door 24 hours a day</a:t>
            </a:r>
            <a:endParaRPr sz="12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목적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265160" cy="16036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This project aims to: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Report any possible human danger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Protect user’s safety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Ensure user’s convenience at home</a:t>
            </a:r>
          </a:p>
          <a:p>
            <a:pPr marL="812165" lvl="1" indent="-3429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299720" algn="l"/>
              </a:tabLst>
            </a:pPr>
            <a:endParaRPr sz="2000" dirty="0">
              <a:latin typeface="+mn-ea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sz="2000" dirty="0"/>
              <a:t>필요성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051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618417"/>
              </p:ext>
            </p:extLst>
          </p:nvPr>
        </p:nvGraphicFramePr>
        <p:xfrm>
          <a:off x="457200" y="1219200"/>
          <a:ext cx="89916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소스 파일명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1. Edge System(Python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1-1. YoloV5 pretrained model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대체 가능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i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1-2.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coco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훈련데이터 기준 검출 객체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Classes) : 80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 객체 검출 기능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대체 가능 함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한 종류의 객체를 동일한 객체로 가능한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Change Detection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대체 가능 함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게시를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1-5.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기타 추가기능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더 있을 경우 아래 표 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2. Service System(Python, Django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Pythonanywhere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클라우드상 서비스 구동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일부 확장 기능 가능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2-1.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사용자 보안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보안키를 이용한 로그인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2-2. Image Blog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및 관리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일부 확장 기능 가능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게시를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2-4. Image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획득을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Restfull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제공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Path: “/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/posts/”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2-5. Person Detection Filter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Function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post_list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in views.py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3. Client System(Android, Native App,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제안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3.1. Image list view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 기능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개별 제안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3.2. Image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획득을 위한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HTTP </a:t>
                      </a:r>
                      <a:r>
                        <a:rPr lang="en" altLang="ko-KR" sz="1000" dirty="0" err="1">
                          <a:solidFill>
                            <a:schemeClr val="tx1"/>
                          </a:solidFill>
                        </a:rPr>
                        <a:t>Restfull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 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 추가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Function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onClickRetrieveList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() on MainActivity.java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3.3.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공통기능 및 추가기능을 활용한 사용자 시나리오 및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</a:rPr>
                        <a:t>UI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제공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신규 추가 필요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3-4.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215444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model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596890" y="1112487"/>
            <a:ext cx="4309110" cy="856645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검출 기능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b="1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>
              <a:spcBef>
                <a:spcPts val="1440"/>
              </a:spcBef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436FCE2-7D0B-C826-592C-819072951881}"/>
              </a:ext>
            </a:extLst>
          </p:cNvPr>
          <p:cNvSpPr txBox="1">
            <a:spLocks/>
          </p:cNvSpPr>
          <p:nvPr/>
        </p:nvSpPr>
        <p:spPr>
          <a:xfrm>
            <a:off x="495300" y="3289251"/>
            <a:ext cx="4309110" cy="856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한 종류의 객체를 동일한 객체로 가능한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Change Detection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 (</a:t>
            </a:r>
            <a:r>
              <a:rPr lang="ko-KR" altLang="en-US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대체 가능 함</a:t>
            </a:r>
            <a:r>
              <a:rPr lang="en-US" altLang="ko-KR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9A3DE4-A43C-B074-1DFA-B59ADA5AD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671637"/>
            <a:ext cx="2343150" cy="17573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AC74F6-4431-7C80-0EC7-304B1D220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010" y="3743027"/>
            <a:ext cx="2476500" cy="18573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4BF682-699E-C8BB-5B9D-4889FC2B2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" y="3717573"/>
            <a:ext cx="2476500" cy="18573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8B06724-9E0A-7BE0-9B8B-098D5BBB7D73}"/>
              </a:ext>
            </a:extLst>
          </p:cNvPr>
          <p:cNvSpPr txBox="1"/>
          <p:nvPr/>
        </p:nvSpPr>
        <p:spPr>
          <a:xfrm>
            <a:off x="3004886" y="1723174"/>
            <a:ext cx="3319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Pretrained model is used as it is. However, there might be some</a:t>
            </a:r>
          </a:p>
          <a:p>
            <a:r>
              <a:rPr lang="en-US" dirty="0"/>
              <a:t>limitations with the detection</a:t>
            </a:r>
          </a:p>
          <a:p>
            <a:r>
              <a:rPr lang="en-US" dirty="0"/>
              <a:t>because the heater fan is also</a:t>
            </a:r>
          </a:p>
          <a:p>
            <a:r>
              <a:rPr lang="en-US" dirty="0"/>
              <a:t>detected as a person.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76AC52-59CE-E659-A315-ECB115555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78" y="1387501"/>
            <a:ext cx="2476500" cy="1857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1F65C1-6063-D39C-2E28-C0561F6B9E16}"/>
              </a:ext>
            </a:extLst>
          </p:cNvPr>
          <p:cNvSpPr txBox="1"/>
          <p:nvPr/>
        </p:nvSpPr>
        <p:spPr>
          <a:xfrm>
            <a:off x="76200" y="5634269"/>
            <a:ext cx="624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pictures are taken 2 seconds away from each other. Even when a person is already detected, Change Detection detects the new person on the phone and a picture is captured because of it.</a:t>
            </a:r>
          </a:p>
        </p:txBody>
      </p:sp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A00A9-4053-CB77-9640-4959F59D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5CC2F-B506-D852-A6AF-03E5F64F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ACCB36D9-586F-F52E-70DB-55ACD54B7FC6}"/>
              </a:ext>
            </a:extLst>
          </p:cNvPr>
          <p:cNvSpPr txBox="1">
            <a:spLocks/>
          </p:cNvSpPr>
          <p:nvPr/>
        </p:nvSpPr>
        <p:spPr>
          <a:xfrm>
            <a:off x="665660" y="1263799"/>
            <a:ext cx="4309110" cy="641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Restful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17DFA5-62AB-70DA-241B-8AD8399D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60" y="1691305"/>
            <a:ext cx="2610940" cy="2632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CA1B02-A748-FB06-7878-773B24415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905000"/>
            <a:ext cx="3794679" cy="186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64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641201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956810" cy="1084912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574040" y="3190960"/>
            <a:ext cx="4309110" cy="869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Restful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BEBBAE-61C7-CA37-64BE-8E9F5E4C5900}"/>
              </a:ext>
            </a:extLst>
          </p:cNvPr>
          <p:cNvSpPr txBox="1">
            <a:spLocks/>
          </p:cNvSpPr>
          <p:nvPr/>
        </p:nvSpPr>
        <p:spPr>
          <a:xfrm>
            <a:off x="5148170" y="6075735"/>
            <a:ext cx="3083001" cy="78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2-4. Image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latinLnBrk="0"/>
            <a:endParaRPr kumimoji="1" lang="ko-KR" altLang="en-US" sz="800" kern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26AA2F-C870-7ED4-6B9A-A3812661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171" y="3461657"/>
            <a:ext cx="1488805" cy="3249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DA6C73-D459-39BD-0A9D-437377CFA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" y="3461657"/>
            <a:ext cx="3312160" cy="2955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FEB20F-1A44-F2AD-3AE7-48910C61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50" y="1375763"/>
            <a:ext cx="4572000" cy="816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F1A584-C102-A47D-DEA2-D15F9BFE6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287" y="1375763"/>
            <a:ext cx="2381519" cy="39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E62A-AC32-2ED9-4DBE-05890A2A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39ED4A-3371-48A2-E596-949EF2C8D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6583"/>
            <a:ext cx="4241421" cy="18167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C97AD99-E4F7-2C66-1881-6248595F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1DB4F-A935-0D3C-1AE9-A8BE88D1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474489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2-5. Person Detection Filter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63812A-AB78-C0E8-8F18-56E825EF8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95400"/>
            <a:ext cx="3505200" cy="17451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2F26EE-BC4C-2B36-15F6-34E6C3C6F7BF}"/>
              </a:ext>
            </a:extLst>
          </p:cNvPr>
          <p:cNvSpPr/>
          <p:nvPr/>
        </p:nvSpPr>
        <p:spPr>
          <a:xfrm>
            <a:off x="3336676" y="1589179"/>
            <a:ext cx="990600" cy="225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E0F7BE-1C65-11B9-2B4A-7F730E69AA7B}"/>
              </a:ext>
            </a:extLst>
          </p:cNvPr>
          <p:cNvCxnSpPr>
            <a:cxnSpLocks/>
          </p:cNvCxnSpPr>
          <p:nvPr/>
        </p:nvCxnSpPr>
        <p:spPr>
          <a:xfrm flipV="1">
            <a:off x="3871792" y="1814514"/>
            <a:ext cx="0" cy="394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3C61B6-AEDC-C2C9-146B-DEB2DD3AFE37}"/>
              </a:ext>
            </a:extLst>
          </p:cNvPr>
          <p:cNvSpPr txBox="1"/>
          <p:nvPr/>
        </p:nvSpPr>
        <p:spPr>
          <a:xfrm>
            <a:off x="3330831" y="2112815"/>
            <a:ext cx="113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here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1CD381-7FCD-EDAA-F8D1-FC3C38A92741}"/>
              </a:ext>
            </a:extLst>
          </p:cNvPr>
          <p:cNvCxnSpPr>
            <a:cxnSpLocks/>
          </p:cNvCxnSpPr>
          <p:nvPr/>
        </p:nvCxnSpPr>
        <p:spPr>
          <a:xfrm flipV="1">
            <a:off x="4755744" y="1814514"/>
            <a:ext cx="777267" cy="371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F40D70-5DB1-281E-B5D4-23BF545E8449}"/>
              </a:ext>
            </a:extLst>
          </p:cNvPr>
          <p:cNvCxnSpPr>
            <a:cxnSpLocks/>
          </p:cNvCxnSpPr>
          <p:nvPr/>
        </p:nvCxnSpPr>
        <p:spPr>
          <a:xfrm>
            <a:off x="4755744" y="2916784"/>
            <a:ext cx="777267" cy="51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AFEBAE25-91F0-CA14-8B01-884609DEE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505200"/>
            <a:ext cx="4038600" cy="20574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E9BB7A3-B438-A0CE-F947-80EE82216C3D}"/>
              </a:ext>
            </a:extLst>
          </p:cNvPr>
          <p:cNvSpPr/>
          <p:nvPr/>
        </p:nvSpPr>
        <p:spPr>
          <a:xfrm>
            <a:off x="6010514" y="1303382"/>
            <a:ext cx="683941" cy="123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C53887-654D-AB0A-BBF8-A91937B3E181}"/>
              </a:ext>
            </a:extLst>
          </p:cNvPr>
          <p:cNvSpPr txBox="1"/>
          <p:nvPr/>
        </p:nvSpPr>
        <p:spPr>
          <a:xfrm>
            <a:off x="6248400" y="4238685"/>
            <a:ext cx="373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Only posts with title=“Person” is displayed. (posts which have high probability that there is actually a person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33C413-6BCF-49A4-4672-EB1DD2161A59}"/>
              </a:ext>
            </a:extLst>
          </p:cNvPr>
          <p:cNvCxnSpPr>
            <a:cxnSpLocks/>
          </p:cNvCxnSpPr>
          <p:nvPr/>
        </p:nvCxnSpPr>
        <p:spPr>
          <a:xfrm flipH="1" flipV="1">
            <a:off x="5715000" y="3962400"/>
            <a:ext cx="533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644EA20-1EE0-577E-104F-EAE1E20C5F39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5715000" y="4267200"/>
            <a:ext cx="533400" cy="386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C6AD19-8DCF-841E-FBB3-7B152B9D3290}"/>
              </a:ext>
            </a:extLst>
          </p:cNvPr>
          <p:cNvCxnSpPr>
            <a:cxnSpLocks/>
          </p:cNvCxnSpPr>
          <p:nvPr/>
        </p:nvCxnSpPr>
        <p:spPr>
          <a:xfrm flipH="1" flipV="1">
            <a:off x="5715000" y="4595233"/>
            <a:ext cx="533400" cy="240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22BD102-7764-F19C-8F6A-F7FBFE0A6328}"/>
              </a:ext>
            </a:extLst>
          </p:cNvPr>
          <p:cNvCxnSpPr>
            <a:cxnSpLocks/>
          </p:cNvCxnSpPr>
          <p:nvPr/>
        </p:nvCxnSpPr>
        <p:spPr>
          <a:xfrm flipH="1" flipV="1">
            <a:off x="5715000" y="4930469"/>
            <a:ext cx="533400" cy="2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3CF18D-7373-7F3B-ED2F-C035E2DE88FA}"/>
              </a:ext>
            </a:extLst>
          </p:cNvPr>
          <p:cNvCxnSpPr>
            <a:cxnSpLocks/>
          </p:cNvCxnSpPr>
          <p:nvPr/>
        </p:nvCxnSpPr>
        <p:spPr>
          <a:xfrm flipH="1">
            <a:off x="5715000" y="5098197"/>
            <a:ext cx="533400" cy="159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88F209-A4BA-CA3B-9AB2-E324DF248F1C}"/>
              </a:ext>
            </a:extLst>
          </p:cNvPr>
          <p:cNvCxnSpPr>
            <a:cxnSpLocks/>
          </p:cNvCxnSpPr>
          <p:nvPr/>
        </p:nvCxnSpPr>
        <p:spPr>
          <a:xfrm flipH="1">
            <a:off x="5715000" y="5217906"/>
            <a:ext cx="609600" cy="300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F17AB22-879A-0A01-DBF5-96A259C353EA}"/>
              </a:ext>
            </a:extLst>
          </p:cNvPr>
          <p:cNvSpPr txBox="1"/>
          <p:nvPr/>
        </p:nvSpPr>
        <p:spPr>
          <a:xfrm>
            <a:off x="381000" y="3883818"/>
            <a:ext cx="4648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Yolo saves a lot of posts into the system due to motions in real life. With this Person Detection Filter, user can skip the unimportant non-human posts, and focus on the person-detected filter</a:t>
            </a:r>
          </a:p>
        </p:txBody>
      </p:sp>
    </p:spTree>
    <p:extLst>
      <p:ext uri="{BB962C8B-B14F-4D97-AF65-F5344CB8AC3E}">
        <p14:creationId xmlns:p14="http://schemas.microsoft.com/office/powerpoint/2010/main" val="150386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E01DD3E-BC55-0D0F-9780-7B8B684C16E3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3.3.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공통기능 및 추가기능을 활용한 사용자 시나리오 및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UI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F8C301E-3D83-105C-BBF1-8DF4BD734E9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369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기타 추가 기능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232A-58D9-EFAF-E142-261AA29A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1783AD-4A19-F75E-4B88-637986810F13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824326-EE27-709E-7158-5943D15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7807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부족한 설명 </a:t>
            </a:r>
            <a:r>
              <a:rPr lang="ko-KR" altLang="en-US" sz="2000" i="1" dirty="0" err="1">
                <a:solidFill>
                  <a:srgbClr val="FF0000"/>
                </a:solidFill>
              </a:rPr>
              <a:t>추거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신규 또는 추가 기능 중심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페이지 추가 가능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041FBD-FFD1-6639-E0FE-B73C65DCDC64}"/>
              </a:ext>
            </a:extLst>
          </p:cNvPr>
          <p:cNvSpPr txBox="1"/>
          <p:nvPr/>
        </p:nvSpPr>
        <p:spPr>
          <a:xfrm>
            <a:off x="574040" y="1124817"/>
            <a:ext cx="8080375" cy="1234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에지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서버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스마트폰 클라이언트의 역할 제시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1096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개발 완료된 상태를 캡처하여 사용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555613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664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데모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구동 동영상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ko-KR" sz="2000" i="1" dirty="0">
                <a:solidFill>
                  <a:srgbClr val="FF0000"/>
                </a:solidFill>
              </a:rPr>
              <a:t>mp4</a:t>
            </a:r>
            <a:r>
              <a:rPr lang="ko-KR" altLang="en-US" sz="2000" i="1" dirty="0">
                <a:solidFill>
                  <a:srgbClr val="FF0000"/>
                </a:solidFill>
              </a:rPr>
              <a:t> 동영상 파일을 추가 함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데모 동영상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8896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기대효과 및 결론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950960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: 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https://github.com/mountainchwe/MobileWebFinalProj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5543</TotalTime>
  <Words>1145</Words>
  <Application>Microsoft Office PowerPoint</Application>
  <PresentationFormat>A4 Paper (210x297 mm)</PresentationFormat>
  <Paragraphs>174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Malgun Gothic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</vt:lpstr>
      <vt:lpstr>목적</vt:lpstr>
      <vt:lpstr>필요성</vt:lpstr>
      <vt:lpstr>기능 - 조건대비표</vt:lpstr>
      <vt:lpstr>기능 - 1. Edge System(Python 기반, 공통)</vt:lpstr>
      <vt:lpstr>기능 - 1. Edge System(Python 기반, 공통)</vt:lpstr>
      <vt:lpstr>기능 - 2. Service System(Python, Django 기반)</vt:lpstr>
      <vt:lpstr>기능 - 2. Service System(Python, Django 기반)</vt:lpstr>
      <vt:lpstr>기능 - 3. Client System(Android, Java기반, 개별 제안)</vt:lpstr>
      <vt:lpstr>기능(부족한 설명 추거, 신규 또는 추가 기능 중심, 페이지 추가 가능)</vt:lpstr>
      <vt:lpstr>사용자 시나리오(Ui 구성)</vt:lpstr>
      <vt:lpstr>데모(구동 동영상, mp4 동영상 파일을 추가 함)</vt:lpstr>
      <vt:lpstr>기대효과 및 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BINTI ZAIDIAMRIUMAIRA YUSRA</cp:lastModifiedBy>
  <cp:revision>61</cp:revision>
  <dcterms:created xsi:type="dcterms:W3CDTF">2020-06-08T19:34:44Z</dcterms:created>
  <dcterms:modified xsi:type="dcterms:W3CDTF">2025-12-20T06:00:47Z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